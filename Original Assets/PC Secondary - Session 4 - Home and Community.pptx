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842" r:id="rId5"/>
    <p:sldId id="843" r:id="rId14"/>
    <p:sldId id="844" r:id="rId15"/>
    <p:sldId id="845" r:id="rId13"/>
    <p:sldId id="846" r:id="rId12"/>
    <p:sldId id="847" r:id="rId11"/>
    <p:sldId id="848" r:id="rId10"/>
    <p:sldId id="849" r:id="rId9"/>
    <p:sldId id="850" r:id="rId8"/>
    <p:sldId id="851" r:id="rId7"/>
    <p:sldId id="852" r:id="rId6"/>
    <p:sldId id="853" r:id="rId24"/>
    <p:sldId id="854" r:id="rId25"/>
    <p:sldId id="85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7" dt="2026-08-25T01:16:54.2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59" autoAdjust="0"/>
    <p:restoredTop sz="80742" autoAdjust="0"/>
  </p:normalViewPr>
  <p:slideViewPr>
    <p:cSldViewPr snapToGrid="0">
      <p:cViewPr varScale="1">
        <p:scale>
          <a:sx n="99" d="100"/>
          <a:sy n="99" d="100"/>
        </p:scale>
        <p:origin x="128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microsoft.com/office/2018/10/relationships/authors" Target="authors.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6:54.207" v="24" actId="20577"/>
      <pc:docMkLst>
        <pc:docMk/>
      </pc:docMkLst>
      <pc:sldChg chg="modSp">
        <pc:chgData name="Jen Cousins" userId="S::jcousins@autismspectrum.org.au::e5107725-ce0a-4006-bfb3-3787c68d621c" providerId="AD" clId="Web-{00000000-0000-0000-0000-000000000000}" dt="2026-08-25T01:14:54.796" v="4" actId="20577"/>
        <pc:sldMkLst>
          <pc:docMk/>
          <pc:sldMk cId="2514732756" sldId="831"/>
        </pc:sldMkLst>
        <pc:spChg chg="mod">
          <ac:chgData name="Jen Cousins" userId="S::jcousins@autismspectrum.org.au::e5107725-ce0a-4006-bfb3-3787c68d621c" providerId="AD" clId="Web-{00000000-0000-0000-0000-000000000000}" dt="2026-08-25T01:14:54.796" v="4" actId="20577"/>
          <ac:spMkLst>
            <pc:docMk/>
            <pc:sldMk cId="2514732756" sldId="831"/>
            <ac:spMk id="11" creationId="{77185316-A130-7900-FBCC-46284722BF13}"/>
          </ac:spMkLst>
        </pc:spChg>
      </pc:sldChg>
      <pc:sldChg chg="modSp">
        <pc:chgData name="Jen Cousins" userId="S::jcousins@autismspectrum.org.au::e5107725-ce0a-4006-bfb3-3787c68d621c" providerId="AD" clId="Web-{00000000-0000-0000-0000-000000000000}" dt="2026-08-25T01:16:54.207" v="24" actId="20577"/>
        <pc:sldMkLst>
          <pc:docMk/>
          <pc:sldMk cId="909566524" sldId="845"/>
        </pc:sldMkLst>
        <pc:spChg chg="mod">
          <ac:chgData name="Jen Cousins" userId="S::jcousins@autismspectrum.org.au::e5107725-ce0a-4006-bfb3-3787c68d621c" providerId="AD" clId="Web-{00000000-0000-0000-0000-000000000000}" dt="2026-08-25T01:15:09.484" v="7" actId="20577"/>
          <ac:spMkLst>
            <pc:docMk/>
            <pc:sldMk cId="909566524" sldId="845"/>
            <ac:spMk id="2" creationId="{3AF6DD61-E9ED-68B6-3963-5981E1957F36}"/>
          </ac:spMkLst>
        </pc:spChg>
        <pc:spChg chg="mod">
          <ac:chgData name="Jen Cousins" userId="S::jcousins@autismspectrum.org.au::e5107725-ce0a-4006-bfb3-3787c68d621c" providerId="AD" clId="Web-{00000000-0000-0000-0000-000000000000}" dt="2026-08-25T01:16:54.207" v="24" actId="20577"/>
          <ac:spMkLst>
            <pc:docMk/>
            <pc:sldMk cId="909566524" sldId="845"/>
            <ac:spMk id="3" creationId="{70544750-78E2-6BA7-D6BF-05D88B8B966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914A82-6332-4EE3-858D-A919E5E1B5B0}"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ED845D-D26B-42D1-9889-EA4054142996}" type="slidenum">
              <a:rPr lang="en-AU" smtClean="0"/>
              <a:t>‹#›</a:t>
            </a:fld>
            <a:endParaRPr lang="en-AU"/>
          </a:p>
        </p:txBody>
      </p:sp>
    </p:spTree>
    <p:extLst>
      <p:ext uri="{BB962C8B-B14F-4D97-AF65-F5344CB8AC3E}">
        <p14:creationId xmlns:p14="http://schemas.microsoft.com/office/powerpoint/2010/main" val="480503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FA376-FBCA-E134-00AC-F76F7CBA9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2D267-8BD3-BC2F-2281-1FE0BC6E13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679C2-2556-FDBE-AACF-C054420D9123}"/>
              </a:ext>
            </a:extLst>
          </p:cNvPr>
          <p:cNvSpPr>
            <a:spLocks noGrp="1"/>
          </p:cNvSpPr>
          <p:nvPr>
            <p:ph type="body" idx="1"/>
          </p:nvPr>
        </p:nvSpPr>
        <p:spPr/>
        <p:txBody>
          <a:bodyPr/>
          <a:lstStyle/>
          <a:p>
            <a:r>
              <a:t>SUGGESTED TIME: 1 min  ·  12:45 - 12:46</a:t>
            </a:r>
          </a:p>
          <a:p/>
          <a:p>
            <a:r>
              <a:t>PURPOSE</a:t>
            </a:r>
          </a:p>
          <a:p>
            <a:r>
              <a:t>Welcome participants back from lunch and set the practical focus for the afternoon.</a:t>
            </a:r>
          </a:p>
          <a:p/>
          <a:p>
            <a:r>
              <a:t>WHAT TO DO</a:t>
            </a:r>
          </a:p>
          <a:p>
            <a:r>
              <a:t>1. Welcome participants back from lunch.</a:t>
            </a:r>
          </a:p>
          <a:p>
            <a:r>
              <a:t>2. Name the shift from understanding Autistic experience this morning to everyday support at home and in the community.</a:t>
            </a:r>
          </a:p>
          <a:p>
            <a:r>
              <a:t>3. Explain that the ideas in this session are prompts for family judgement, not a single model of home life with a teenager.</a:t>
            </a:r>
          </a:p>
          <a:p>
            <a:r>
              <a:t>4. Invite participants to take what is workable for their young person and family and leave the rest.</a:t>
            </a:r>
          </a:p>
          <a:p/>
          <a:p>
            <a:r>
              <a:t>YOU MIGHT SAY</a:t>
            </a:r>
          </a:p>
          <a:p>
            <a:r>
              <a:t>This morning was about understanding. This afternoon is about what that means for everyday life with a teenager. You know your family best, so take what fits and leave what doesn't.</a:t>
            </a:r>
          </a:p>
          <a:p/>
          <a:p>
            <a:r>
              <a:t>KEY MESSAGES</a:t>
            </a:r>
          </a:p>
          <a:p>
            <a:r>
              <a:t>• Home and community supports need to fit the real family.</a:t>
            </a:r>
          </a:p>
          <a:p>
            <a:r>
              <a:t>• A practical plan begins with the young person's capacity, preferences and context, and gives them a say.</a:t>
            </a:r>
          </a:p>
          <a:p/>
          <a:p>
            <a:r>
              <a:t>THREAD</a:t>
            </a:r>
          </a:p>
          <a:p>
            <a:r>
              <a:t>The afternoon builds on the batteries, spoons and masking content from Session 3.</a:t>
            </a:r>
          </a:p>
        </p:txBody>
      </p:sp>
      <p:sp>
        <p:nvSpPr>
          <p:cNvPr id="4" name="Slide Number Placeholder 3">
            <a:extLst>
              <a:ext uri="{FF2B5EF4-FFF2-40B4-BE49-F238E27FC236}">
                <a16:creationId xmlns:a16="http://schemas.microsoft.com/office/drawing/2014/main" id="{47D6F3C3-F556-9D14-0433-2A3DB64ABF86}"/>
              </a:ext>
            </a:extLst>
          </p:cNvPr>
          <p:cNvSpPr>
            <a:spLocks noGrp="1"/>
          </p:cNvSpPr>
          <p:nvPr>
            <p:ph type="sldNum" sz="quarter" idx="10"/>
          </p:nvPr>
        </p:nvSpPr>
        <p:spPr/>
        <p:txBody>
          <a:bodyPr/>
          <a:lstStyle/>
          <a:p>
            <a:fld id="{3757639E-2754-4616-B3B2-52F975BD6937}" type="slidenum">
              <a:rPr lang="en-AU" smtClean="0"/>
              <a:t>1</a:t>
            </a:fld>
            <a:endParaRPr lang="en-AU"/>
          </a:p>
        </p:txBody>
      </p:sp>
    </p:spTree>
    <p:extLst>
      <p:ext uri="{BB962C8B-B14F-4D97-AF65-F5344CB8AC3E}">
        <p14:creationId xmlns:p14="http://schemas.microsoft.com/office/powerpoint/2010/main" val="197721219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12:46 - 12:49</a:t>
            </a:r>
          </a:p>
          <a:p/>
          <a:p>
            <a:r>
              <a:t>PURPOSE</a:t>
            </a:r>
          </a:p>
          <a:p>
            <a:r>
              <a:t>Frame distress as communication about needs, using the iceberg: what we see sits on top of feelings, values and needs.</a:t>
            </a:r>
          </a:p>
          <a:p/>
          <a:p>
            <a:r>
              <a:t>WHAT TO DO</a:t>
            </a:r>
          </a:p>
          <a:p>
            <a:r>
              <a:t>1. Walk through the iceberg: behaviour is what we can see and hear; underneath are thoughts and feelings, values, and needs such as belonging, predictability, security and self-expression.</a:t>
            </a:r>
          </a:p>
          <a:p>
            <a:r>
              <a:t>2. Give a home example of what might come before a reaction: an unexpected change, too much noise, a demand that was too big on that day.</a:t>
            </a:r>
          </a:p>
          <a:p>
            <a:r>
              <a:t>3. Invite participants to think of a recent hard moment and what might have been underneath it. This is private thinking, not sharing.</a:t>
            </a:r>
          </a:p>
          <a:p/>
          <a:p>
            <a:r>
              <a:t>YOU MIGHT SAY</a:t>
            </a:r>
          </a:p>
          <a:p>
            <a:r>
              <a:t>What we see is often only the tip of the iceberg. Underneath are thoughts, feelings and needs we can't see straight away.</a:t>
            </a:r>
          </a:p>
          <a:p>
            <a:r>
              <a:t>When we look back at what came before, a hard moment often starts to make sense. A change of plan, a long day of different teachers and rooms, a request that would be fine on another day.</a:t>
            </a:r>
          </a:p>
          <a:p/>
          <a:p>
            <a:r>
              <a:t>KEY MESSAGES</a:t>
            </a:r>
          </a:p>
          <a:p>
            <a:r>
              <a:t>• A reaction is rarely a choice. It usually makes sense once we understand what came before.</a:t>
            </a:r>
          </a:p>
          <a:p>
            <a:r>
              <a:t>• Behaviour is communication. Be curious about what sits underneath.</a:t>
            </a:r>
          </a:p>
          <a:p/>
          <a:p>
            <a:r>
              <a:t>KEEP IN MIND</a:t>
            </a:r>
          </a:p>
          <a:p>
            <a:r>
              <a:t>• Some families are living with a lot of distress at home right now. Keep the tone free of blame for the young person or the parent.</a:t>
            </a:r>
          </a:p>
          <a:p>
            <a:r>
              <a:t>• With teenagers, distress can look like anger, slammed doors or withdrawal. Keep the same curiosity about what sits underneath.</a:t>
            </a:r>
          </a:p>
          <a:p>
            <a:r>
              <a:t>• Link back to the batteries and spoons from Session 3 rather than introducing new theory.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12:49 - 12:51</a:t>
            </a:r>
          </a:p>
          <a:p/>
          <a:p>
            <a:r>
              <a:t>PURPOSE</a:t>
            </a:r>
          </a:p>
          <a:p>
            <a:r>
              <a:t>Describe shutdown and meltdown as involuntary responses to overwhelm.</a:t>
            </a:r>
          </a:p>
          <a:p/>
          <a:p>
            <a:r>
              <a:t>WHAT TO DO</a:t>
            </a:r>
          </a:p>
          <a:p>
            <a:r>
              <a:t>1. Explain shutdown: turning inward. Freeze or flop. Less able to speak or say what they need. It can be hidden or masked.</a:t>
            </a:r>
          </a:p>
          <a:p>
            <a:r>
              <a:t>2. Explain meltdown: turning outward. Fight or flight. It might look like crying, running away or a big emotional outburst.</a:t>
            </a:r>
          </a:p>
          <a:p>
            <a:r>
              <a:t>3. Point out that a shutdown can be easy to miss, especially if the young person is quiet, masking or goes to their room.</a:t>
            </a:r>
          </a:p>
          <a:p/>
          <a:p>
            <a:r>
              <a:t>YOU MIGHT SAY</a:t>
            </a:r>
          </a:p>
          <a:p>
            <a:r>
              <a:t>Shutdown and meltdown are both what can happen when a young person's system is overwhelmed. One turns inward, one turns outward. Neither is a choice.</a:t>
            </a:r>
          </a:p>
          <a:p>
            <a:r>
              <a:t>A shutdown can be quiet. A young person might go still, stop talking or disappear into their room. It can be easy to miss.</a:t>
            </a:r>
          </a:p>
          <a:p/>
          <a:p>
            <a:r>
              <a:t>KEY MESSAGES</a:t>
            </a:r>
          </a:p>
          <a:p>
            <a:r>
              <a:t>• Shutdowns and meltdowns are involuntary responses to overwhelm, not a choice.</a:t>
            </a:r>
          </a:p>
          <a:p/>
          <a:p>
            <a:r>
              <a:t>KEEP IN MIND</a:t>
            </a:r>
          </a:p>
          <a:p>
            <a:r>
              <a:t>• Avoid describing meltdowns as tantrums, attitude or something the young person can stop on request.</a:t>
            </a:r>
          </a:p>
          <a:p>
            <a:r>
              <a:t>• Parents may recognise hard experiences here, including meltdowns that feel bigger now their young person is physically bigger. Allow a pause and keep moving gently.</a:t>
            </a:r>
          </a:p>
          <a:p/>
          <a:p>
            <a:r>
              <a:t>THREAD</a:t>
            </a:r>
          </a:p>
          <a:p>
            <a:r>
              <a:t>Links to masking in the teenage years in Session 3: a young person who masks may shut down rather than melt down, and it may not show until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12:51 - 12:54</a:t>
            </a:r>
          </a:p>
          <a:p/>
          <a:p>
            <a:r>
              <a:t>PURPOSE</a:t>
            </a:r>
          </a:p>
          <a:p>
            <a:r>
              <a:t>Explain Autistic burnout and School Can't as signs of long-term overload, not choice or defiance.</a:t>
            </a:r>
          </a:p>
          <a:p/>
          <a:p>
            <a:r>
              <a:t>WHAT TO DO</a:t>
            </a:r>
          </a:p>
          <a:p>
            <a:r>
              <a:t>1. Explain Autistic burnout: deep physical, mental and emotional exhaustion after a long time of too much sensory and social demand. Skills and capacity can drop for a while.</a:t>
            </a:r>
          </a:p>
          <a:p>
            <a:r>
              <a:t>2. Explain School Can't: not being able to go to school because of overwhelming anxiety, fear or sensory overload. It is not a choice or defiance.</a:t>
            </a:r>
          </a:p>
          <a:p>
            <a:r>
              <a:t>3. Read the closing line on the slide.</a:t>
            </a:r>
          </a:p>
          <a:p/>
          <a:p>
            <a:r>
              <a:t>YOU MIGHT SAY</a:t>
            </a:r>
          </a:p>
          <a:p>
            <a:r>
              <a:t>Sometimes overwhelm doesn't come and go. It builds up over weeks or months, and the secondary years can add a lot: more teachers, more rooms, more homework, more going on with friends.</a:t>
            </a:r>
          </a:p>
          <a:p>
            <a:r>
              <a:t>If your young person has lost skills they had, or can't get through the school gate, it is not because they aren't trying. It usually means they have been carrying too much for too long.</a:t>
            </a:r>
          </a:p>
          <a:p/>
          <a:p>
            <a:r>
              <a:t>KEY MESSAGES</a:t>
            </a:r>
          </a:p>
          <a:p>
            <a:r>
              <a:t>• Burnout and School Can't are often signs that a young person has been coping with more than we realised, for longer than we realised.</a:t>
            </a:r>
          </a:p>
          <a:p>
            <a:r>
              <a:t>• Looking underneath helps us find the support, adjustments and recovery they need.</a:t>
            </a:r>
          </a:p>
          <a:p/>
          <a:p>
            <a:r>
              <a:t>KEEP IN MIND</a:t>
            </a:r>
          </a:p>
          <a:p>
            <a:r>
              <a:t>• Some families in the room may be in the middle of burnout or School Can't right now. Acknowledge how hard this is. Do not offer individual advice in the room; offer to talk at a break.</a:t>
            </a:r>
          </a:p>
          <a:p>
            <a:r>
              <a:t>• Avoid 'school refusal' language, which suggests choice.</a:t>
            </a:r>
          </a:p>
          <a:p>
            <a:r>
              <a:t>• Session 5 covers working with school. Point there rather than opening a school discussion now.</a:t>
            </a:r>
          </a:p>
          <a:p>
            <a:r>
              <a:t>• If a parent describes a young person in crisis, give them the support lines at the break (Kids Helpline 1800 55 1800, headspace at headspace.org.au, Lifeline 13 11 14; also on Session 5, slide 14) and follow up with them privately.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12:54 - 12:57  ·  Workbook - My young person's signs and what helps</a:t>
            </a:r>
          </a:p>
          <a:p/>
          <a:p>
            <a:r>
              <a:t>PURPOSE</a:t>
            </a:r>
          </a:p>
          <a:p>
            <a:r>
              <a:t>Give practical ways to respond during overwhelm.</a:t>
            </a:r>
          </a:p>
          <a:p/>
          <a:p>
            <a:r>
              <a:t>WHAT TO DO</a:t>
            </a:r>
          </a:p>
          <a:p>
            <a:r>
              <a:t>1. Walk through the five points on the slide.</a:t>
            </a:r>
          </a:p>
          <a:p>
            <a:r>
              <a:t>2. Emphasise reducing input: fewer words, fewer questions, less noise.</a:t>
            </a:r>
          </a:p>
          <a:p>
            <a:r>
              <a:t>3. Explain that a safe, quiet space works best when it has been agreed before, when everyone is calm. With a teenager, work it out together.</a:t>
            </a:r>
          </a:p>
          <a:p>
            <a:r>
              <a:t>4. Remind participants that talking it through can wait until the young person is calm.</a:t>
            </a:r>
          </a:p>
          <a:p/>
          <a:p>
            <a:r>
              <a:t>YOU MIGHT SAY</a:t>
            </a:r>
          </a:p>
          <a:p>
            <a:r>
              <a:t>In the moment, try fewer words, fewer questions and less noise.</a:t>
            </a:r>
          </a:p>
          <a:p>
            <a:r>
              <a:t>The talking can come later. Once your young person is calm, that's the time to understand what happened, if they want to.</a:t>
            </a:r>
          </a:p>
          <a:p/>
          <a:p>
            <a:r>
              <a:t>KEY MESSAGES</a:t>
            </a:r>
          </a:p>
          <a:p>
            <a:r>
              <a:t>• Be curious, not judgemental.</a:t>
            </a:r>
          </a:p>
          <a:p>
            <a:r>
              <a:t>• It is a body response. They are doing the best they can.</a:t>
            </a:r>
          </a:p>
          <a:p/>
          <a:p>
            <a:r>
              <a:t>KEEP IN MIND</a:t>
            </a:r>
          </a:p>
          <a:p>
            <a:r>
              <a:t>• Present these as options, not a script. Parents know what calms their own young person.</a:t>
            </a:r>
          </a:p>
          <a:p>
            <a:r>
              <a:t>• Acknowledge that it is hard to stay calm when your young person is distressed. That leads into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12:57 - 12:59</a:t>
            </a:r>
          </a:p>
          <a:p/>
          <a:p>
            <a:r>
              <a:t>PURPOSE</a:t>
            </a:r>
          </a:p>
          <a:p>
            <a:r>
              <a:t>Explain co-regulation as the foundation self-regulation grows from, and that teenagers still need it.</a:t>
            </a:r>
          </a:p>
          <a:p/>
          <a:p>
            <a:r>
              <a:t>WHAT TO DO</a:t>
            </a:r>
          </a:p>
          <a:p>
            <a:r>
              <a:t>1. Explain co-regulation: a calm, trusted adult helps your young person settle. Your steady presence does a lot of the work.</a:t>
            </a:r>
          </a:p>
          <a:p>
            <a:r>
              <a:t>2. Point out that teenagers still need this, even when they push away. It may look different: sitting nearby, a drive, a quiet cup of tea.</a:t>
            </a:r>
          </a:p>
          <a:p>
            <a:r>
              <a:t>3. Explain self-regulation: what your young person does to manage their own energy and feelings. It grows over time, with support.</a:t>
            </a:r>
          </a:p>
          <a:p>
            <a:r>
              <a:t>4. Read the closing line.</a:t>
            </a:r>
          </a:p>
          <a:p/>
          <a:p>
            <a:r>
              <a:t>YOU MIGHT SAY</a:t>
            </a:r>
          </a:p>
          <a:p>
            <a:r>
              <a:t>Young people learn to settle with the help of a calm adult nearby. Your calm presence does a lot of the work, even when you don't say anything, and even when they tell you to go away.</a:t>
            </a:r>
          </a:p>
          <a:p/>
          <a:p>
            <a:r>
              <a:t>KEY MESSAGES</a:t>
            </a:r>
          </a:p>
          <a:p>
            <a:r>
              <a:t>• Co-regulation comes first. Self-regulation builds from it.</a:t>
            </a:r>
          </a:p>
          <a:p>
            <a:r>
              <a:t>• Teenagers still need co-regulation, even when they push away.</a:t>
            </a:r>
          </a:p>
          <a:p/>
          <a:p>
            <a:r>
              <a:t>KEEP IN MIND</a:t>
            </a:r>
          </a:p>
          <a:p>
            <a:r>
              <a:t>• Some parents will hear this as pressure to always be calm. Say plainly that nobody manages this every time.</a:t>
            </a:r>
          </a:p>
          <a:p>
            <a:r>
              <a:t>• Respect the teenager's need for space. Co-regulation can be quiet and nearby rather than close and talking.</a:t>
            </a:r>
          </a:p>
          <a:p/>
          <a:p>
            <a:r>
              <a:t>THREAD</a:t>
            </a:r>
          </a:p>
          <a:p>
            <a:r>
              <a:t>Your own capacity to co-regulate comes back on slide 13, Your own battery counts.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12:59 - 1:03</a:t>
            </a:r>
          </a:p>
          <a:p/>
          <a:p>
            <a:r>
              <a:t>PURPOSE</a:t>
            </a:r>
          </a:p>
          <a:p>
            <a:r>
              <a:t>Help participants recognise the after-school crash in the teenage years and plan recovery as part of the family routine.</a:t>
            </a:r>
          </a:p>
          <a:p/>
          <a:p>
            <a:r>
              <a:t>WHAT TO DO</a:t>
            </a:r>
          </a:p>
          <a:p>
            <a:r>
              <a:t>1. Link to masking and the battery from Session 3: many Autistic young people hold it together at school and let go at home.</a:t>
            </a:r>
          </a:p>
          <a:p>
            <a:r>
              <a:t>2. Walk through the four ideas: recovery first, talk later, homework can wait too, keep it the same.</a:t>
            </a:r>
          </a:p>
          <a:p>
            <a:r>
              <a:t>3. Point out that in the teenage years the crash often gets bigger, not smaller: a longer day, more people and more masking.</a:t>
            </a:r>
          </a:p>
          <a:p>
            <a:r>
              <a:t>4. Invite participants to think privately about what changes they notice after school and what helps their young person recover.</a:t>
            </a:r>
          </a:p>
          <a:p/>
          <a:p>
            <a:r>
              <a:t>YOU MIGHT SAY</a:t>
            </a:r>
          </a:p>
          <a:p>
            <a:r>
              <a:t>If your young person comes home and falls apart, or goes straight to their room, it doesn't mean home is the problem. Often it means home is where they feel safe enough to let go.</a:t>
            </a:r>
          </a:p>
          <a:p>
            <a:r>
              <a:t>Recovery comes first. Food, quiet, movement or screen time, their choice, before questions or demands. They may tell you about their day later, often late in the evening, or not at all. That is okay.</a:t>
            </a:r>
          </a:p>
          <a:p/>
          <a:p>
            <a:r>
              <a:t>KEY MESSAGES</a:t>
            </a:r>
          </a:p>
          <a:p>
            <a:r>
              <a:t>• What happens after school can tell us about the load of the day.</a:t>
            </a:r>
          </a:p>
          <a:p>
            <a:r>
              <a:t>• Recovery time can be a regular part of the family routine that does not have to be earned.</a:t>
            </a:r>
          </a:p>
          <a:p>
            <a:r>
              <a:t>• A quiet car ride or time alone in their room is often part of how a young person recovers.</a:t>
            </a:r>
          </a:p>
          <a:p/>
          <a:p>
            <a:r>
              <a:t>KEEP IN MIND</a:t>
            </a:r>
          </a:p>
          <a:p>
            <a:r>
              <a:t>• Introduce this as a pattern some families recognise, without assuming it applies to every young person.</a:t>
            </a:r>
          </a:p>
          <a:p>
            <a:r>
              <a:t>• Some parents may have been told by school that their young person is fine at school. Acknowledge that both can be true.</a:t>
            </a:r>
          </a:p>
          <a:p>
            <a:r>
              <a:t>• Parents who miss connection may hear this as 'leave them alone'. Name that connection in the teenage years often comes sideways: the late-night chat, a shared game, a drive.</a:t>
            </a:r>
          </a:p>
          <a:p>
            <a:r>
              <a:t>• If withdrawal never eases or a parent is worried about their young person's wellbeing, offer to talk at a break about where to get support.</a:t>
            </a:r>
          </a:p>
          <a:p/>
          <a:p>
            <a:r>
              <a:t>THREAD</a:t>
            </a:r>
          </a:p>
          <a:p>
            <a:r>
              <a:t>Builds on masking in Session 3. What families see after school can be useful to share with school in Session 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1:03 - 1:06</a:t>
            </a:r>
          </a:p>
          <a:p/>
          <a:p>
            <a:r>
              <a:t>PURPOSE</a:t>
            </a:r>
          </a:p>
          <a:p>
            <a:r>
              <a:t>Give families practical ways to support homework and assessment without taking it over.</a:t>
            </a:r>
          </a:p>
          <a:p/>
          <a:p>
            <a:r>
              <a:t>WHAT TO DO</a:t>
            </a:r>
          </a:p>
          <a:p>
            <a:r>
              <a:t>1. Read the opening line: starting and planning are often the hardest parts, not the work itself.</a:t>
            </a:r>
          </a:p>
          <a:p>
            <a:r>
              <a:t>2. Walk through the four ideas: help with the start, make the timeline visible, break it down, talk to school.</a:t>
            </a:r>
          </a:p>
          <a:p>
            <a:r>
              <a:t>3. Explain that sitting nearby while they start, doing your own thing, can make starting easier.</a:t>
            </a:r>
          </a:p>
          <a:p>
            <a:r>
              <a:t>4. Point out the last idea: if the load is too much, that is a conversation with school about adjustments, not a discipline problem at home.</a:t>
            </a:r>
          </a:p>
          <a:p/>
          <a:p>
            <a:r>
              <a:t>YOU MIGHT SAY</a:t>
            </a:r>
          </a:p>
          <a:p>
            <a:r>
              <a:t>A wall planner with due dates can take the place of asking every night.</a:t>
            </a:r>
          </a:p>
          <a:p>
            <a:r>
              <a:t>Agree when homework happens, after recovery, and where it works best for them. Then keep it steady.</a:t>
            </a:r>
          </a:p>
          <a:p/>
          <a:p>
            <a:r>
              <a:t>KEY MESSAGES</a:t>
            </a:r>
          </a:p>
          <a:p>
            <a:r>
              <a:t>• Starting and planning are often the hardest parts, not the work itself.</a:t>
            </a:r>
          </a:p>
          <a:p>
            <a:r>
              <a:t>• You can help with the start, the timeline and the planning while the work stays theirs.</a:t>
            </a:r>
          </a:p>
          <a:p>
            <a:r>
              <a:t>• If every task is a battle, the load may be wrong. Ask school about adjustments. That is what they are for.</a:t>
            </a:r>
          </a:p>
          <a:p/>
          <a:p>
            <a:r>
              <a:t>KEEP IN MIND</a:t>
            </a:r>
          </a:p>
          <a:p>
            <a:r>
              <a:t>• Some parents are currently doing a lot of their young person's planning and organising, often at real cost. Acknowledge the care in that, and offer small ways to step back over time.</a:t>
            </a:r>
          </a:p>
          <a:p>
            <a:r>
              <a:t>• Keep this to what helps at home. Adjustments and assessment arrangements are covered in Session 5.</a:t>
            </a:r>
          </a:p>
          <a:p/>
          <a:p>
            <a:r>
              <a:t>THREAD</a:t>
            </a:r>
          </a:p>
          <a:p>
            <a:r>
              <a:t>Links to executive functioning in Session 2 and leads to adjustments and Who to contact for what in Session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1:06 - 1:08</a:t>
            </a:r>
          </a:p>
          <a:p/>
          <a:p>
            <a:r>
              <a:t>PURPOSE</a:t>
            </a:r>
          </a:p>
          <a:p>
            <a:r>
              <a:t>Position deep interests as sources of regulation, connection, joy and identity in the teenage years.</a:t>
            </a:r>
          </a:p>
          <a:p/>
          <a:p>
            <a:r>
              <a:t>WHAT TO DO</a:t>
            </a:r>
          </a:p>
          <a:p>
            <a:r>
              <a:t>1. Name the three ideas on the slide: regulation, connection, and joy and identity.</a:t>
            </a:r>
          </a:p>
          <a:p>
            <a:r>
              <a:t>2. Point out that for many teenagers, an interest is also where their people are, including online communities built on a shared interest.</a:t>
            </a:r>
          </a:p>
          <a:p>
            <a:r>
              <a:t>3. Read the line at the bottom about taking interests away as a consequence.</a:t>
            </a:r>
          </a:p>
          <a:p/>
          <a:p>
            <a:r>
              <a:t>YOU MIGHT SAY</a:t>
            </a:r>
          </a:p>
          <a:p>
            <a:r>
              <a:t>Time with an interest can restore energy faster than almost anything else. It is also a way into your young person's world. You don't have to be good at their game to sit with them while they play.</a:t>
            </a:r>
          </a:p>
          <a:p/>
          <a:p>
            <a:r>
              <a:t>KEY MESSAGES</a:t>
            </a:r>
          </a:p>
          <a:p>
            <a:r>
              <a:t>• Deep interests are part of who a young person is, not something to ration.</a:t>
            </a:r>
          </a:p>
          <a:p>
            <a:r>
              <a:t>• Taking an interest away as a consequence often makes regulation harder.</a:t>
            </a:r>
          </a:p>
          <a:p/>
          <a:p>
            <a:r>
              <a:t>KEEP IN MIND</a:t>
            </a:r>
          </a:p>
          <a:p>
            <a:r>
              <a:t>• Avoid treating interests only as rewards or leverage.</a:t>
            </a:r>
          </a:p>
          <a:p>
            <a:r>
              <a:t>• Worries about gaming and screen time may come up here. Acknowledge them and say they come back on the sleep and screens slide.</a:t>
            </a:r>
          </a:p>
          <a:p/>
          <a:p>
            <a:r>
              <a:t>THREAD</a:t>
            </a:r>
          </a:p>
          <a:p>
            <a:r>
              <a:t>Links to deep focus and interests in Session 2. Interests can also point towards future study and work in Session 5, Transition planning starts early.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1:08 - 1:11</a:t>
            </a:r>
          </a:p>
          <a:p/>
          <a:p>
            <a:r>
              <a:t>PURPOSE</a:t>
            </a:r>
          </a:p>
          <a:p>
            <a:r>
              <a:t>Help families think about building independence gradually, with risk talked through together and home as a safe base.</a:t>
            </a:r>
          </a:p>
          <a:p/>
          <a:p>
            <a:r>
              <a:t>WHAT TO DO</a:t>
            </a:r>
          </a:p>
          <a:p>
            <a:r>
              <a:t>1. Walk through the three ideas: in small steps, talk about risk together, home as a safe base.</a:t>
            </a:r>
          </a:p>
          <a:p>
            <a:r>
              <a:t>2. Give some practical examples of small steps: setting their own alarm, managing some of their own money, one journey on their own, speaking for themselves at one appointment.</a:t>
            </a:r>
          </a:p>
          <a:p>
            <a:r>
              <a:t>3. Explain that the right size of step is different for every young person. For some, a small step this year is a real achievement.</a:t>
            </a:r>
          </a:p>
          <a:p/>
          <a:p>
            <a:r>
              <a:t>YOU MIGHT SAY</a:t>
            </a:r>
          </a:p>
          <a:p>
            <a:r>
              <a:t>Independence doesn't have to arrive all at once on a birthday. It can grow in small steps, with support that fades as they get more confident.</a:t>
            </a:r>
          </a:p>
          <a:p/>
          <a:p>
            <a:r>
              <a:t>KEY MESSAGES</a:t>
            </a:r>
          </a:p>
          <a:p>
            <a:r>
              <a:t>• Independence grows one step at a time, with support that fades as confidence grows.</a:t>
            </a:r>
          </a:p>
          <a:p>
            <a:r>
              <a:t>• Agree together what feels safe enough, and what happens if it does not go to plan.</a:t>
            </a:r>
          </a:p>
          <a:p>
            <a:r>
              <a:t>• Home can be the place a young person can be fully themselves while their identity is changing.</a:t>
            </a:r>
          </a:p>
          <a:p/>
          <a:p>
            <a:r>
              <a:t>KEEP IN MIND</a:t>
            </a:r>
          </a:p>
          <a:p>
            <a:r>
              <a:t>• Families of young people with higher support needs may feel left out of this. Say plainly that the steps look different for each young person and there is no timeline to meet.</a:t>
            </a:r>
          </a:p>
          <a:p>
            <a:r>
              <a:t>• Keep the warmth: this is about a safe base, not a training program.</a:t>
            </a:r>
          </a:p>
          <a:p/>
          <a:p>
            <a:r>
              <a:t>THREAD</a:t>
            </a:r>
          </a:p>
          <a:p>
            <a:r>
              <a:t>Leads into the activity on slide 12, One step towards independence, and Adolescents in their own meetings in Session 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1:11 - 1:13</a:t>
            </a:r>
          </a:p>
          <a:p/>
          <a:p>
            <a:r>
              <a:t>PURPOSE</a:t>
            </a:r>
          </a:p>
          <a:p>
            <a:r>
              <a:t>Talk honestly about sleep and screens as trade-offs families work out together, without judgement.</a:t>
            </a:r>
          </a:p>
          <a:p/>
          <a:p>
            <a:r>
              <a:t>WHAT TO DO</a:t>
            </a:r>
          </a:p>
          <a:p>
            <a:r>
              <a:t>1. Walk through the three ideas: sleep matters, screens do many jobs, honest trade-offs.</a:t>
            </a:r>
          </a:p>
          <a:p>
            <a:r>
              <a:t>2. Explain that many Autistic young people have trouble with sleep, and tiredness lowers everyone's capacity.</a:t>
            </a:r>
          </a:p>
          <a:p>
            <a:r>
              <a:t>3. Name that screens are used for rest, regulation, connection and interests, as well as the things we worry about.</a:t>
            </a:r>
          </a:p>
          <a:p>
            <a:r>
              <a:t>4. Encourage families to work out together what matters most right now, and review it.</a:t>
            </a:r>
          </a:p>
          <a:p/>
          <a:p>
            <a:r>
              <a:t>YOU MIGHT SAY</a:t>
            </a:r>
          </a:p>
          <a:p>
            <a:r>
              <a:t>Pick the few things that matter most for your family right now, and hold those steadily. Everything else can be talked about.</a:t>
            </a:r>
          </a:p>
          <a:p/>
          <a:p>
            <a:r>
              <a:t>KEY MESSAGES</a:t>
            </a:r>
          </a:p>
          <a:p>
            <a:r>
              <a:t>• Tiredness lowers everyone's capacity.</a:t>
            </a:r>
          </a:p>
          <a:p>
            <a:r>
              <a:t>• Screens do many jobs. Look at what they are doing for your young person.</a:t>
            </a:r>
          </a:p>
          <a:p>
            <a:r>
              <a:t>• An agreement worked out together, and reviewed, usually works better than a rule handed down.</a:t>
            </a:r>
          </a:p>
          <a:p/>
          <a:p>
            <a:r>
              <a:t>KEEP IN MIND</a:t>
            </a:r>
          </a:p>
          <a:p>
            <a:r>
              <a:t>• Do not moralise about screens. Many parents have already heard a lot of advice and may feel judged.</a:t>
            </a:r>
          </a:p>
          <a:p>
            <a:r>
              <a:t>• Families may raise online safety worries. Acknowledge them, keep to the principle of working it out together, and point to specialist online safety information at a break.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7 min  ·  1:13 - 1:20  ·  Workbook - One step towards independence</a:t>
            </a:r>
          </a:p>
          <a:p/>
          <a:p>
            <a:r>
              <a:t>PURPOSE</a:t>
            </a:r>
          </a:p>
          <a:p>
            <a:r>
              <a:t>Help each participant choose one small, supported step towards independence for their young person.</a:t>
            </a:r>
          </a:p>
          <a:p/>
          <a:p>
            <a:r>
              <a:t>WHAT TO DO</a:t>
            </a:r>
          </a:p>
          <a:p>
            <a:r>
              <a:t>1. Read the prompt: think of one thing your young person could do more independently.</a:t>
            </a:r>
          </a:p>
          <a:p>
            <a:r>
              <a:t>2. Walk through the four steps on the slide.</a:t>
            </a:r>
          </a:p>
          <a:p>
            <a:r>
              <a:t>3. Give participants a minute of quiet thinking and writing, then share at tables.</a:t>
            </a:r>
          </a:p>
          <a:p>
            <a:r>
              <a:t>4. Allow about 7 minutes in total, including the quiet thinking time.</a:t>
            </a:r>
          </a:p>
          <a:p/>
          <a:p>
            <a:r>
              <a:t>YOU MIGHT SAY</a:t>
            </a:r>
          </a:p>
          <a:p>
            <a:r>
              <a:t>Think of one thing your young person could do a little more on their own. It might be catching a bus, cooking a meal, managing money or contacting a teacher. Then think about the very first step.</a:t>
            </a:r>
          </a:p>
          <a:p/>
          <a:p>
            <a:r>
              <a:t>KEY MESSAGES</a:t>
            </a:r>
          </a:p>
          <a:p>
            <a:r>
              <a:t>• Choose one step, sized for your young person.</a:t>
            </a:r>
          </a:p>
          <a:p>
            <a:r>
              <a:t>• Plan the support that stays in place and when you will review it together.</a:t>
            </a:r>
          </a:p>
          <a:p/>
          <a:p>
            <a:r>
              <a:t>ACTIVITY: Individual planning and table sharing  ·  tables  ·  7 minutes</a:t>
            </a:r>
          </a:p>
          <a:p>
            <a:r>
              <a:t>Prompt: Think of one thing your young person could do more independently.</a:t>
            </a:r>
          </a:p>
          <a:p>
            <a:r>
              <a:t>1. What is it? Catching a bus, cooking a meal, managing money, contacting a teacher...</a:t>
            </a:r>
          </a:p>
          <a:p>
            <a:r>
              <a:t>2. What is the first small step?</a:t>
            </a:r>
          </a:p>
          <a:p>
            <a:r>
              <a:t>3. What support stays in place, and how will you review it together?</a:t>
            </a:r>
          </a:p>
          <a:p>
            <a:r>
              <a:t>4. Share one idea with your table.</a:t>
            </a:r>
          </a:p>
          <a:p>
            <a:r>
              <a:t>Bring the room back:</a:t>
            </a:r>
          </a:p>
          <a:p>
            <a:r>
              <a:t>• Invite one or two examples from the room.</a:t>
            </a:r>
          </a:p>
          <a:p>
            <a:r>
              <a:t>Close: Suggest participants talk about the step with their young person, so it becomes something they choose too.</a:t>
            </a:r>
          </a:p>
          <a:p/>
          <a:p>
            <a:r>
              <a:t>KEEP IN MIND</a:t>
            </a:r>
          </a:p>
          <a:p>
            <a:r>
              <a:t>• Keep steps small and realistic. For some young people the first step is very small, and that is fine.</a:t>
            </a:r>
          </a:p>
          <a:p>
            <a:r>
              <a:t>• Sharing is optional. A participant can listen and take ideas.</a:t>
            </a:r>
          </a:p>
          <a:p/>
          <a:p>
            <a:r>
              <a:t>THREAD</a:t>
            </a:r>
          </a:p>
          <a:p>
            <a:r>
              <a:t>Can become the 'one thing to try at home' in Session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1:20 - 1:22  ·  Workbook - My own battery</a:t>
            </a:r>
          </a:p>
          <a:p/>
          <a:p>
            <a:r>
              <a:t>PURPOSE</a:t>
            </a:r>
          </a:p>
          <a:p>
            <a:r>
              <a:t>Include parent and carer capacity in family planning.</a:t>
            </a:r>
          </a:p>
          <a:p/>
          <a:p>
            <a:r>
              <a:t>WHAT TO DO</a:t>
            </a:r>
          </a:p>
          <a:p>
            <a:r>
              <a:t>1. Connect to the battery from Session 3 and co-regulation on slide 6.</a:t>
            </a:r>
          </a:p>
          <a:p>
            <a:r>
              <a:t>2. Walk through the three ideas: it helps your young person, small and daily, your supports.</a:t>
            </a:r>
          </a:p>
          <a:p>
            <a:r>
              <a:t>3. Invite participants to think quietly about what helps them recharge and what could make this week a little lighter.</a:t>
            </a:r>
          </a:p>
          <a:p>
            <a:r>
              <a:t>4. Name the people in the room as one source of support.</a:t>
            </a:r>
          </a:p>
          <a:p/>
          <a:p>
            <a:r>
              <a:t>YOU MIGHT SAY</a:t>
            </a:r>
          </a:p>
          <a:p>
            <a:r>
              <a:t>It is hard to help someone else stay calm when you are running on empty. That is still true with a sixteen-year-old.</a:t>
            </a:r>
          </a:p>
          <a:p>
            <a:r>
              <a:t>This doesn't have to be big. Ten minutes, a walk, a cup of tea in peace, or asking someone for help.</a:t>
            </a:r>
          </a:p>
          <a:p/>
          <a:p>
            <a:r>
              <a:t>KEY MESSAGES</a:t>
            </a:r>
          </a:p>
          <a:p>
            <a:r>
              <a:t>• Looking after yourself is part of looking after your family.</a:t>
            </a:r>
          </a:p>
          <a:p>
            <a:r>
              <a:t>• A small reduction in load is a valid practical action.</a:t>
            </a:r>
          </a:p>
          <a:p/>
          <a:p>
            <a:r>
              <a:t>KEEP IN MIND</a:t>
            </a:r>
          </a:p>
          <a:p>
            <a:r>
              <a:t>• Keep the focus on small, realistic choices rather than idealised self-care.</a:t>
            </a:r>
          </a:p>
          <a:p>
            <a:r>
              <a:t>• Some parents have very little support. Acknowledge this without suggesting they are doing something wrong.</a:t>
            </a:r>
          </a:p>
          <a:p>
            <a:r>
              <a:t>• Looking after your own capacity is part of practical planning for the family.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8 min  ·  1:22 - 1:30  ·  Workbook - What works in our home</a:t>
            </a:r>
          </a:p>
          <a:p/>
          <a:p>
            <a:r>
              <a:t>PURPOSE</a:t>
            </a:r>
          </a:p>
          <a:p>
            <a:r>
              <a:t>Draw on the knowledge in the room: each person shares one thing that works at home.</a:t>
            </a:r>
          </a:p>
          <a:p/>
          <a:p>
            <a:r>
              <a:t>WHAT TO DO</a:t>
            </a:r>
          </a:p>
          <a:p>
            <a:r>
              <a:t>1. Read the opening line: families know a lot.</a:t>
            </a:r>
          </a:p>
          <a:p>
            <a:r>
              <a:t>2. Offer the topics: mornings, after school, homework, sleep, screens or your own battery.</a:t>
            </a:r>
          </a:p>
          <a:p>
            <a:r>
              <a:t>3. Each person shares one idea with the table. Set a timer for 8 minutes.</a:t>
            </a:r>
          </a:p>
          <a:p>
            <a:r>
              <a:t>4. Ask everyone to write down one idea they would like to try.</a:t>
            </a:r>
          </a:p>
          <a:p>
            <a:r>
              <a:t>5. To finish, ask participants to keep one thing they notice at home in mind as they move into the next session on partnership with school.</a:t>
            </a:r>
          </a:p>
          <a:p/>
          <a:p>
            <a:r>
              <a:t>YOU MIGHT SAY</a:t>
            </a:r>
          </a:p>
          <a:p>
            <a:r>
              <a:t>You've heard a lot from us today. Now it's your turn. Share one thing that works in your home, big or small.</a:t>
            </a:r>
          </a:p>
          <a:p/>
          <a:p>
            <a:r>
              <a:t>KEY MESSAGES</a:t>
            </a:r>
          </a:p>
          <a:p>
            <a:r>
              <a:t>• Families know a lot. What works in one home can help another.</a:t>
            </a:r>
          </a:p>
          <a:p>
            <a:r>
              <a:t>• What families notice at home can help shape a conversation with school.</a:t>
            </a:r>
          </a:p>
          <a:p/>
          <a:p>
            <a:r>
              <a:t>ACTIVITY: Table sharing  ·  tables  ·  8 minutes</a:t>
            </a:r>
          </a:p>
          <a:p>
            <a:r>
              <a:t>Prompt: Share one thing that works in your home.</a:t>
            </a:r>
          </a:p>
          <a:p>
            <a:r>
              <a:t>1. Choose a topic: mornings, after school, homework, sleep, screens or your own battery.</a:t>
            </a:r>
          </a:p>
          <a:p>
            <a:r>
              <a:t>2. Each person shares one idea with the table.</a:t>
            </a:r>
          </a:p>
          <a:p>
            <a:r>
              <a:t>3. Write down one idea you would like to try.</a:t>
            </a:r>
          </a:p>
          <a:p>
            <a:r>
              <a:t>Close: Keep one home observation in mind for Session 5, Partnership with the School.</a:t>
            </a:r>
          </a:p>
          <a:p/>
          <a:p>
            <a:r>
              <a:t>KEEP IN MIND</a:t>
            </a:r>
          </a:p>
          <a:p>
            <a:r>
              <a:t>• Sharing is optional. A participant can listen and take ideas.</a:t>
            </a:r>
          </a:p>
          <a:p>
            <a:r>
              <a:t>• Keep the table focused on what works rather than solving one family's situation.</a:t>
            </a:r>
          </a:p>
          <a:p/>
          <a:p>
            <a:r>
              <a:t>THREAD</a:t>
            </a:r>
          </a:p>
          <a:p>
            <a:r>
              <a:t>Leads into Session 5: what families notice at home can shape the next conversation with school.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8D6C9-C8AA-44C4-4931-B382C18639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90B0037-3390-A966-0EBE-D795C3F688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24BB3E6-3703-518E-C773-70E0E4F94D36}"/>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46F8A0B6-825C-8E42-35F9-BC7E4501A91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C079D15-E047-F9AE-AAE7-5BD7C3EFBBC7}"/>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320769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02C15-D2D8-8F8F-F025-D2487EFD913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1FB96AF-95C1-A5C1-E73A-831D4E2F5A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9003DA0-50A6-D538-79D9-5E4C0C004E90}"/>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7E2ECC71-AB07-9583-6936-B3C19E6314E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4D0FABA-841F-FE19-813D-42FA2271746B}"/>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2053149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1C130-C195-F979-C996-43C69E20B5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36A1547D-5500-AFAE-D21E-7C6357D233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065C74-8D24-AF82-BEA1-F26C254E230D}"/>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63EDA315-180D-2FA3-A9BC-01C5D5D677E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3A05573-D0B6-34B1-1291-F62FAA95B81F}"/>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943103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850D6-575C-CB41-65A7-FB804F56A61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CC1AB66-7C88-6A15-6D8D-8156EBFCDE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2BF4B84-D37C-AC67-13D5-2675C140A6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C5CB32D-1C8A-2343-22CC-E378AEF3AB09}"/>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6" name="Footer Placeholder 5">
            <a:extLst>
              <a:ext uri="{FF2B5EF4-FFF2-40B4-BE49-F238E27FC236}">
                <a16:creationId xmlns:a16="http://schemas.microsoft.com/office/drawing/2014/main" id="{D50C401E-C5C9-FF2F-F378-60ABB41EB26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C0EAD7F-2D27-5053-D388-C766FB4DD854}"/>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658258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3652B-4E9D-C103-17CE-5DF2B51F1F7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3116675-A71C-4904-0FF1-D5B8D37148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FBA880-2D6A-1AA3-9C39-74A40D9E03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9FDFA0F3-A8A7-4F4E-61E5-2658D2491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A1E242-5908-6CCF-F77A-148EE5E921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FC331BC2-4F17-83CD-8504-7E61BC3A6E31}"/>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8" name="Footer Placeholder 7">
            <a:extLst>
              <a:ext uri="{FF2B5EF4-FFF2-40B4-BE49-F238E27FC236}">
                <a16:creationId xmlns:a16="http://schemas.microsoft.com/office/drawing/2014/main" id="{0A10B8AD-E95C-5456-BBC1-328DAF3CEB5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3D86B90-A435-E3F2-EA44-6A8C8A6E6D7F}"/>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690333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62AE-4571-FF4C-4C3E-AB065B0E8B0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5A303C8-8F3A-4539-454B-4B436868E0D4}"/>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4" name="Footer Placeholder 3">
            <a:extLst>
              <a:ext uri="{FF2B5EF4-FFF2-40B4-BE49-F238E27FC236}">
                <a16:creationId xmlns:a16="http://schemas.microsoft.com/office/drawing/2014/main" id="{2D3BA5F9-3C8B-EAF6-0B2D-6D968A2DAF2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60E689E-FF7B-4208-CD6A-F6398559771F}"/>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2990270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C7A373-84D6-6742-696A-532FEAF89569}"/>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3" name="Footer Placeholder 2">
            <a:extLst>
              <a:ext uri="{FF2B5EF4-FFF2-40B4-BE49-F238E27FC236}">
                <a16:creationId xmlns:a16="http://schemas.microsoft.com/office/drawing/2014/main" id="{73E46E7A-F9BC-67E1-8EC5-353D4A8CFD6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A2AC8BD-6F60-7B66-0139-D144520F3736}"/>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527705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748D2-D824-1C37-B882-FE52B8AFF4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5A77D53E-26C1-1097-D4CA-AD653C0E75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D3CD386-9696-1756-8606-31933629B8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A04459-AEE9-32FD-67D2-E9B7F5BD2896}"/>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6" name="Footer Placeholder 5">
            <a:extLst>
              <a:ext uri="{FF2B5EF4-FFF2-40B4-BE49-F238E27FC236}">
                <a16:creationId xmlns:a16="http://schemas.microsoft.com/office/drawing/2014/main" id="{29DEA51B-3BA0-7066-34BA-F3E12AD6410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30C672D-C6E0-05A6-E1CB-1EF3705B56D3}"/>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27824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18754-344E-8F2F-37E4-8C8778665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378F485-F60E-3DEC-A66D-A0A001776D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330EA3D-01BC-748B-BA48-03D96EF3D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1F00D2-2456-0349-31F3-BF594B96FE08}"/>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6" name="Footer Placeholder 5">
            <a:extLst>
              <a:ext uri="{FF2B5EF4-FFF2-40B4-BE49-F238E27FC236}">
                <a16:creationId xmlns:a16="http://schemas.microsoft.com/office/drawing/2014/main" id="{303F4A45-4B3D-E948-6973-154B5A7392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314AAF0-1024-84A7-5CE2-174823542E0E}"/>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939389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41FC3-840A-471B-5906-04D822FE3C7A}"/>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6B75C24-F185-4C62-1569-3951DF603F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9C9F63D-BD51-529C-98FF-15F3285AA6F4}"/>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ABBCC688-12E0-94F5-B228-F9B1D7649FA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61C413-9089-9B05-B8EC-3DC773608D33}"/>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35928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835A89-BCBF-4B62-DAE1-DF204AF183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AE03E82-6631-29FC-2AAA-C293B2945D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1AC9247-8721-17D1-2047-627DFC46904F}"/>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43D6DB14-3D48-A4C9-A73F-0305080D727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EFD2F71-10E0-0071-F7F8-0B08302C3B88}"/>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482604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4E257-01C1-FF4E-A621-4CDB8E364AC2}"/>
              </a:ext>
            </a:extLst>
          </p:cNvPr>
          <p:cNvSpPr>
            <a:spLocks noGrp="1"/>
          </p:cNvSpPr>
          <p:nvPr>
            <p:ph type="title"/>
          </p:nvPr>
        </p:nvSpPr>
        <p:spPr>
          <a:xfrm>
            <a:off x="684141" y="2234624"/>
            <a:ext cx="6756008" cy="3041713"/>
          </a:xfrm>
        </p:spPr>
        <p:txBody>
          <a:bodyPr/>
          <a:lstStyle>
            <a:lvl1pPr>
              <a:defRPr>
                <a:solidFill>
                  <a:schemeClr val="tx1"/>
                </a:solidFill>
              </a:defRPr>
            </a:lvl1pPr>
          </a:lstStyle>
          <a:p>
            <a:r>
              <a:rPr lang="en-US"/>
              <a:t>Click to edit Master title style</a:t>
            </a:r>
          </a:p>
        </p:txBody>
      </p:sp>
      <p:sp>
        <p:nvSpPr>
          <p:cNvPr id="5" name="Picture Placeholder 3">
            <a:extLst>
              <a:ext uri="{FF2B5EF4-FFF2-40B4-BE49-F238E27FC236}">
                <a16:creationId xmlns:a16="http://schemas.microsoft.com/office/drawing/2014/main" id="{BC1C21F1-E016-B546-B8A2-0753B298F5B4}"/>
              </a:ext>
            </a:extLst>
          </p:cNvPr>
          <p:cNvSpPr>
            <a:spLocks noGrp="1"/>
          </p:cNvSpPr>
          <p:nvPr>
            <p:ph type="pic" sz="quarter" idx="10"/>
          </p:nvPr>
        </p:nvSpPr>
        <p:spPr>
          <a:xfrm>
            <a:off x="8016213" y="917909"/>
            <a:ext cx="3264760" cy="3375187"/>
          </a:xfrm>
          <a:prstGeom prst="roundRect">
            <a:avLst/>
          </a:prstGeom>
          <a:noFill/>
          <a:ln w="63500">
            <a:solidFill>
              <a:srgbClr val="FFFFFF"/>
            </a:solidFill>
          </a:ln>
        </p:spPr>
        <p:txBody>
          <a:bodyPr/>
          <a:lstStyle/>
          <a:p>
            <a:endParaRPr lang="en-US"/>
          </a:p>
        </p:txBody>
      </p:sp>
    </p:spTree>
    <p:extLst>
      <p:ext uri="{BB962C8B-B14F-4D97-AF65-F5344CB8AC3E}">
        <p14:creationId xmlns:p14="http://schemas.microsoft.com/office/powerpoint/2010/main" val="22086793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C7C52-3677-EB4A-92DB-F07C343D7A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C36CDA9-E14D-7E9C-B18D-D572246A7E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BC99416-908D-9535-1946-7F6B2932D7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815E84F6-AD10-DB0C-1F16-6CC48227FF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66A36C2-AC8A-6FAE-4E57-F75AC4E379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EAA60F-4B3C-432D-A5A7-353D2F9511D8}" type="slidenum">
              <a:rPr lang="en-AU" smtClean="0"/>
              <a:t>‹#›</a:t>
            </a:fld>
            <a:endParaRPr lang="en-AU"/>
          </a:p>
        </p:txBody>
      </p:sp>
    </p:spTree>
    <p:extLst>
      <p:ext uri="{BB962C8B-B14F-4D97-AF65-F5344CB8AC3E}">
        <p14:creationId xmlns:p14="http://schemas.microsoft.com/office/powerpoint/2010/main" val="1207528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758A-4EC0-C24C-0414-4B79E1726AB0}"/>
            </a:ext>
          </a:extLst>
        </p:cNvPr>
        <p:cNvGrpSpPr/>
        <p:nvPr/>
      </p:nvGrpSpPr>
      <p:grpSpPr>
        <a:xfrm>
          <a:off x="0" y="0"/>
          <a:ext cx="0" cy="0"/>
          <a:chOff x="0" y="0"/>
          <a:chExt cx="0" cy="0"/>
        </a:xfrm>
      </p:grpSpPr>
      <p:sp>
        <p:nvSpPr>
          <p:cNvPr id="5" name="Oval 4"/>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3" name="Picture 2">
            <a:extLst>
              <a:ext uri="{FF2B5EF4-FFF2-40B4-BE49-F238E27FC236}">
                <a16:creationId xmlns:a16="http://schemas.microsoft.com/office/drawing/2014/main" id="{0A49AF26-10D7-9B44-4DD4-07D17957C14E}"/>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15259" r="15259"/>
          <a:stretch/>
        </p:blipFill>
        <p:spPr>
          <a:xfrm>
            <a:off x="0" y="0"/>
            <a:ext cx="6766560" cy="6858000"/>
          </a:xfrm>
          <a:prstGeom prst="rect">
            <a:avLst/>
          </a:prstGeom>
        </p:spPr>
      </p:pic>
      <p:sp>
        <p:nvSpPr>
          <p:cNvPr id="4" name="Title 3">
            <a:extLst>
              <a:ext uri="{FF2B5EF4-FFF2-40B4-BE49-F238E27FC236}">
                <a16:creationId xmlns:a16="http://schemas.microsoft.com/office/drawing/2014/main" id="{260502DD-259B-5020-6871-D083521624CD}"/>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Parents and Carers · Secondary · Session 4</a:t>
            </a:r>
          </a:p>
          <a:p>
            <a:pPr marL="0" indent="0" algn="l">
              <a:lnSpc>
                <a:spcPct val="95000"/>
              </a:lnSpc>
              <a:spcBef>
                <a:spcPts val="1000"/>
              </a:spcBef>
              <a:buNone/>
            </a:pPr>
            <a:r>
              <a:rPr lang="en-AU" sz="3600" b="0" dirty="0">
                <a:solidFill>
                  <a:srgbClr val="584099"/>
                </a:solidFill>
                <a:latin typeface="Arial Black"/>
                <a:ea typeface="Arial Black"/>
                <a:cs typeface="Arial Black"/>
              </a:rPr>
              <a:t>Home and Community</a:t>
            </a:r>
          </a:p>
        </p:txBody>
      </p:sp>
    </p:spTree>
    <p:custDataLst>
      <p:tags r:id="rId1"/>
    </p:custDataLst>
    <p:extLst>
      <p:ext uri="{BB962C8B-B14F-4D97-AF65-F5344CB8AC3E}">
        <p14:creationId xmlns:p14="http://schemas.microsoft.com/office/powerpoint/2010/main" val="3493460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Distress and unmet needs</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What we see is often only the tip of the iceberg.</a:t>
            </a:r>
          </a:p>
        </p:txBody>
      </p:sp>
      <p:sp>
        <p:nvSpPr>
          <p:cNvPr id="5" name="Rounded Rectangle 4"/>
          <p:cNvSpPr/>
          <p:nvPr/>
        </p:nvSpPr>
        <p:spPr>
          <a:xfrm>
            <a:off x="685800" y="2011680"/>
            <a:ext cx="5272888" cy="164592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286000"/>
            <a:ext cx="4724248" cy="11887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Behaviour</a:t>
            </a:r>
          </a:p>
          <a:p>
            <a:pPr algn="l" marL="0" indent="0">
              <a:lnSpc>
                <a:spcPct val="100000"/>
              </a:lnSpc>
              <a:spcBef>
                <a:spcPts val="800"/>
              </a:spcBef>
              <a:buNone/>
            </a:pPr>
            <a:r>
              <a:rPr lang="en-AU" sz="1800" b="0">
                <a:solidFill>
                  <a:srgbClr val="3D2A6B"/>
                </a:solidFill>
                <a:latin typeface="Arial"/>
                <a:ea typeface="Arial"/>
                <a:cs typeface="Arial"/>
              </a:rPr>
              <a:t>What we can see and hear.</a:t>
            </a:r>
          </a:p>
        </p:txBody>
      </p:sp>
      <p:sp>
        <p:nvSpPr>
          <p:cNvPr id="7" name="Rounded Rectangle 6"/>
          <p:cNvSpPr/>
          <p:nvPr/>
        </p:nvSpPr>
        <p:spPr>
          <a:xfrm>
            <a:off x="6233008" y="2011680"/>
            <a:ext cx="5272888" cy="164592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6507328" y="2286000"/>
            <a:ext cx="4724248" cy="11887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Underneath</a:t>
            </a:r>
          </a:p>
          <a:p>
            <a:pPr algn="l" marL="0" indent="0">
              <a:lnSpc>
                <a:spcPct val="100000"/>
              </a:lnSpc>
              <a:spcBef>
                <a:spcPts val="800"/>
              </a:spcBef>
              <a:buNone/>
            </a:pPr>
            <a:r>
              <a:rPr lang="en-AU" sz="1800" b="0">
                <a:solidFill>
                  <a:srgbClr val="3D2A6B"/>
                </a:solidFill>
                <a:latin typeface="Arial"/>
                <a:ea typeface="Arial"/>
                <a:cs typeface="Arial"/>
              </a:rPr>
              <a:t>Thoughts and feelings, values, and needs such as belonging, predictability, security and self-expression.</a:t>
            </a:r>
          </a:p>
        </p:txBody>
      </p:sp>
      <p:sp>
        <p:nvSpPr>
          <p:cNvPr id="9" name="TextBox 8"/>
          <p:cNvSpPr txBox="1"/>
          <p:nvPr/>
        </p:nvSpPr>
        <p:spPr>
          <a:xfrm>
            <a:off x="685800" y="3931920"/>
            <a:ext cx="10789920" cy="1280160"/>
          </a:xfrm>
          <a:prstGeom prst="rect">
            <a:avLst/>
          </a:prstGeom>
          <a:noFill/>
        </p:spPr>
        <p:txBody>
          <a:bodyPr wrap="square" lIns="0" rIns="0" tIns="0" bIns="0" anchor="t">
            <a:noAutofit/>
          </a:bodyPr>
          <a:lstStyle/>
          <a:p>
            <a:pPr algn="l" marL="0" indent="0">
              <a:lnSpc>
                <a:spcPct val="100000"/>
              </a:lnSpc>
              <a:spcBef>
                <a:spcPts val="0"/>
              </a:spcBef>
              <a:buNone/>
            </a:pPr>
            <a:r>
              <a:rPr lang="en-AU" sz="1800" b="0">
                <a:solidFill>
                  <a:srgbClr val="3D2A6B"/>
                </a:solidFill>
                <a:latin typeface="Arial"/>
                <a:ea typeface="Arial"/>
                <a:cs typeface="Arial"/>
              </a:rPr>
              <a:t>A reaction is rarely a choice. It usually makes sense once we understand what came before: an unexpected change, too much noise, a demand that was too big on that day.</a:t>
            </a:r>
          </a:p>
        </p:txBody>
      </p:sp>
      <p:sp>
        <p:nvSpPr>
          <p:cNvPr id="10" name="Rounded Rectangle 9"/>
          <p:cNvSpPr/>
          <p:nvPr/>
        </p:nvSpPr>
        <p:spPr>
          <a:xfrm>
            <a:off x="685800" y="539496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1" name="TextBox 10"/>
          <p:cNvSpPr txBox="1"/>
          <p:nvPr/>
        </p:nvSpPr>
        <p:spPr>
          <a:xfrm>
            <a:off x="960120" y="539496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Behaviour is communication. Be curious about what sits underneath.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Overwhelm</a:t>
            </a:r>
          </a:p>
        </p:txBody>
      </p:sp>
      <p:sp>
        <p:nvSpPr>
          <p:cNvPr id="4" name="Rounded Rectangle 3"/>
          <p:cNvSpPr/>
          <p:nvPr/>
        </p:nvSpPr>
        <p:spPr>
          <a:xfrm>
            <a:off x="685800" y="1371600"/>
            <a:ext cx="5272888" cy="265176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472424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Shutdown</a:t>
            </a:r>
          </a:p>
          <a:p>
            <a:pPr algn="l" marL="0" indent="0">
              <a:lnSpc>
                <a:spcPct val="100000"/>
              </a:lnSpc>
              <a:spcBef>
                <a:spcPts val="800"/>
              </a:spcBef>
              <a:buNone/>
            </a:pPr>
            <a:r>
              <a:rPr lang="en-AU" sz="1800" b="0">
                <a:solidFill>
                  <a:srgbClr val="3D2A6B"/>
                </a:solidFill>
                <a:latin typeface="Arial"/>
                <a:ea typeface="Arial"/>
                <a:cs typeface="Arial"/>
              </a:rPr>
              <a:t>Turning inward. Freeze or flop. Less able to speak or say what they need. Can be hidden or masked.</a:t>
            </a:r>
          </a:p>
        </p:txBody>
      </p:sp>
      <p:sp>
        <p:nvSpPr>
          <p:cNvPr id="6" name="Rounded Rectangle 5"/>
          <p:cNvSpPr/>
          <p:nvPr/>
        </p:nvSpPr>
        <p:spPr>
          <a:xfrm>
            <a:off x="6233008" y="1371600"/>
            <a:ext cx="5272888" cy="265176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6507328" y="1645920"/>
            <a:ext cx="472424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Meltdown</a:t>
            </a:r>
          </a:p>
          <a:p>
            <a:pPr algn="l" marL="0" indent="0">
              <a:lnSpc>
                <a:spcPct val="100000"/>
              </a:lnSpc>
              <a:spcBef>
                <a:spcPts val="800"/>
              </a:spcBef>
              <a:buNone/>
            </a:pPr>
            <a:r>
              <a:rPr lang="en-AU" sz="1800" b="0">
                <a:solidFill>
                  <a:srgbClr val="3D2A6B"/>
                </a:solidFill>
                <a:latin typeface="Arial"/>
                <a:ea typeface="Arial"/>
                <a:cs typeface="Arial"/>
              </a:rPr>
              <a:t>Turning outward. Fight or flight. Might look like crying, running away or a big emotional outburst.</a:t>
            </a:r>
          </a:p>
        </p:txBody>
      </p:sp>
      <p:sp>
        <p:nvSpPr>
          <p:cNvPr id="8" name="Rounded Rectangle 7"/>
          <p:cNvSpPr/>
          <p:nvPr/>
        </p:nvSpPr>
        <p:spPr>
          <a:xfrm>
            <a:off x="685800" y="4389120"/>
            <a:ext cx="10820095" cy="566928"/>
          </a:xfrm>
          <a:prstGeom prst="roundRect">
            <a:avLst>
              <a:gd name="adj" fmla="val 50000"/>
            </a:avLst>
          </a:prstGeom>
          <a:solidFill>
            <a:srgbClr val="584099"/>
          </a:solidFill>
          <a:ln w="19050">
            <a:solidFill>
              <a:srgbClr val="FFFFFF"/>
            </a:solidFill>
          </a:ln>
        </p:spPr>
        <p:txBody>
          <a:bodyPr rtlCol="0" anchor="ctr"/>
          <a:lstStyle/>
          <a:p>
            <a:pPr algn="ctr"/>
          </a:p>
        </p:txBody>
      </p:sp>
      <p:sp>
        <p:nvSpPr>
          <p:cNvPr id="9" name="TextBox 8"/>
          <p:cNvSpPr txBox="1"/>
          <p:nvPr/>
        </p:nvSpPr>
        <p:spPr>
          <a:xfrm>
            <a:off x="960120" y="438912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FFFFFF"/>
                </a:solidFill>
                <a:latin typeface="Arial"/>
                <a:ea typeface="Arial"/>
                <a:cs typeface="Arial"/>
              </a:rPr>
              <a:t>These are involuntary responses to overwhelm, not a choice.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When overwhelm builds up</a:t>
            </a:r>
          </a:p>
        </p:txBody>
      </p:sp>
      <p:sp>
        <p:nvSpPr>
          <p:cNvPr id="4" name="Rounded Rectangle 3"/>
          <p:cNvSpPr/>
          <p:nvPr/>
        </p:nvSpPr>
        <p:spPr>
          <a:xfrm>
            <a:off x="685800" y="1371600"/>
            <a:ext cx="5272888" cy="274320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4724248"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Autistic burnout</a:t>
            </a:r>
          </a:p>
          <a:p>
            <a:pPr algn="l" marL="0" indent="0">
              <a:lnSpc>
                <a:spcPct val="100000"/>
              </a:lnSpc>
              <a:spcBef>
                <a:spcPts val="800"/>
              </a:spcBef>
              <a:buNone/>
            </a:pPr>
            <a:r>
              <a:rPr lang="en-AU" sz="1800" b="0">
                <a:solidFill>
                  <a:srgbClr val="3D2A6B"/>
                </a:solidFill>
                <a:latin typeface="Arial"/>
                <a:ea typeface="Arial"/>
                <a:cs typeface="Arial"/>
              </a:rPr>
              <a:t>Deep physical, mental and emotional exhaustion after a long time of too much sensory and social demand. Skills and capacity can drop for a while.</a:t>
            </a:r>
          </a:p>
        </p:txBody>
      </p:sp>
      <p:sp>
        <p:nvSpPr>
          <p:cNvPr id="6" name="Rounded Rectangle 5"/>
          <p:cNvSpPr/>
          <p:nvPr/>
        </p:nvSpPr>
        <p:spPr>
          <a:xfrm>
            <a:off x="6233008" y="1371600"/>
            <a:ext cx="5272888" cy="274320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6507328" y="1645920"/>
            <a:ext cx="4724248"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School Can't</a:t>
            </a:r>
          </a:p>
          <a:p>
            <a:pPr algn="l" marL="0" indent="0">
              <a:lnSpc>
                <a:spcPct val="100000"/>
              </a:lnSpc>
              <a:spcBef>
                <a:spcPts val="800"/>
              </a:spcBef>
              <a:buNone/>
            </a:pPr>
            <a:r>
              <a:rPr lang="en-AU" sz="1800" b="0">
                <a:solidFill>
                  <a:srgbClr val="3D2A6B"/>
                </a:solidFill>
                <a:latin typeface="Arial"/>
                <a:ea typeface="Arial"/>
                <a:cs typeface="Arial"/>
              </a:rPr>
              <a:t>Not being able to go to school because of overwhelming anxiety, fear or sensory overload. It is not a choice or defiance.</a:t>
            </a:r>
          </a:p>
        </p:txBody>
      </p:sp>
      <p:sp>
        <p:nvSpPr>
          <p:cNvPr id="8" name="TextBox 7"/>
          <p:cNvSpPr txBox="1"/>
          <p:nvPr/>
        </p:nvSpPr>
        <p:spPr>
          <a:xfrm>
            <a:off x="685800" y="4389120"/>
            <a:ext cx="10789920" cy="1097280"/>
          </a:xfrm>
          <a:prstGeom prst="rect">
            <a:avLst/>
          </a:prstGeom>
          <a:noFill/>
        </p:spPr>
        <p:txBody>
          <a:bodyPr wrap="square" lIns="0" rIns="0" tIns="0" bIns="0" anchor="t">
            <a:noAutofit/>
          </a:bodyPr>
          <a:lstStyle/>
          <a:p>
            <a:pPr algn="l" marL="0" indent="0">
              <a:lnSpc>
                <a:spcPct val="100000"/>
              </a:lnSpc>
              <a:spcBef>
                <a:spcPts val="0"/>
              </a:spcBef>
              <a:buNone/>
            </a:pPr>
            <a:r>
              <a:rPr lang="en-AU" sz="1700" b="0">
                <a:solidFill>
                  <a:srgbClr val="3D2A6B"/>
                </a:solidFill>
                <a:latin typeface="Arial"/>
                <a:ea typeface="Arial"/>
                <a:cs typeface="Arial"/>
              </a:rPr>
              <a:t>Burnout and School Can't are often signs that a young person has been coping with more than we realised, for longer than we realised. Looking underneath helps us find the support, adjustments and recovery they need.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What can help in the moment?</a:t>
            </a:r>
          </a:p>
        </p:txBody>
      </p:sp>
      <p:sp>
        <p:nvSpPr>
          <p:cNvPr id="4" name="Rounded Rectangle 3"/>
          <p:cNvSpPr/>
          <p:nvPr/>
        </p:nvSpPr>
        <p:spPr>
          <a:xfrm>
            <a:off x="685800" y="1325880"/>
            <a:ext cx="10820095" cy="749808"/>
          </a:xfrm>
          <a:prstGeom prst="roundRect">
            <a:avLst>
              <a:gd name="adj" fmla="val 12000"/>
            </a:avLst>
          </a:prstGeom>
          <a:solidFill>
            <a:srgbClr val="F3F0FA"/>
          </a:solidFill>
          <a:ln>
            <a:noFill/>
          </a:ln>
        </p:spPr>
        <p:txBody>
          <a:bodyPr rtlCol="0" anchor="ctr"/>
          <a:lstStyle/>
          <a:p>
            <a:pPr algn="ctr"/>
          </a:p>
        </p:txBody>
      </p:sp>
      <p:sp>
        <p:nvSpPr>
          <p:cNvPr id="5" name="TextBox 4"/>
          <p:cNvSpPr txBox="1"/>
          <p:nvPr/>
        </p:nvSpPr>
        <p:spPr>
          <a:xfrm>
            <a:off x="960120" y="1325880"/>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Be curious, not judgemental.</a:t>
            </a:r>
          </a:p>
        </p:txBody>
      </p:sp>
      <p:sp>
        <p:nvSpPr>
          <p:cNvPr id="6" name="Rounded Rectangle 5"/>
          <p:cNvSpPr/>
          <p:nvPr/>
        </p:nvSpPr>
        <p:spPr>
          <a:xfrm>
            <a:off x="685800" y="2203704"/>
            <a:ext cx="10820095" cy="749808"/>
          </a:xfrm>
          <a:prstGeom prst="roundRect">
            <a:avLst>
              <a:gd name="adj" fmla="val 12000"/>
            </a:avLst>
          </a:prstGeom>
          <a:solidFill>
            <a:srgbClr val="F3F0FA"/>
          </a:solidFill>
          <a:ln>
            <a:noFill/>
          </a:ln>
        </p:spPr>
        <p:txBody>
          <a:bodyPr rtlCol="0" anchor="ctr"/>
          <a:lstStyle/>
          <a:p>
            <a:pPr algn="ctr"/>
          </a:p>
        </p:txBody>
      </p:sp>
      <p:sp>
        <p:nvSpPr>
          <p:cNvPr id="7" name="TextBox 6"/>
          <p:cNvSpPr txBox="1"/>
          <p:nvPr/>
        </p:nvSpPr>
        <p:spPr>
          <a:xfrm>
            <a:off x="960120" y="2203704"/>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Reduce input: fewer words, fewer questions, less noise.</a:t>
            </a:r>
          </a:p>
        </p:txBody>
      </p:sp>
      <p:sp>
        <p:nvSpPr>
          <p:cNvPr id="8" name="Rounded Rectangle 7"/>
          <p:cNvSpPr/>
          <p:nvPr/>
        </p:nvSpPr>
        <p:spPr>
          <a:xfrm>
            <a:off x="685800" y="3081528"/>
            <a:ext cx="10820095" cy="749808"/>
          </a:xfrm>
          <a:prstGeom prst="roundRect">
            <a:avLst>
              <a:gd name="adj" fmla="val 12000"/>
            </a:avLst>
          </a:prstGeom>
          <a:solidFill>
            <a:srgbClr val="F3F0FA"/>
          </a:solidFill>
          <a:ln>
            <a:noFill/>
          </a:ln>
        </p:spPr>
        <p:txBody>
          <a:bodyPr rtlCol="0" anchor="ctr"/>
          <a:lstStyle/>
          <a:p>
            <a:pPr algn="ctr"/>
          </a:p>
        </p:txBody>
      </p:sp>
      <p:sp>
        <p:nvSpPr>
          <p:cNvPr id="9" name="TextBox 8"/>
          <p:cNvSpPr txBox="1"/>
          <p:nvPr/>
        </p:nvSpPr>
        <p:spPr>
          <a:xfrm>
            <a:off x="960120" y="3081528"/>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Have a safe, quiet space you have agreed on before.</a:t>
            </a:r>
          </a:p>
        </p:txBody>
      </p:sp>
      <p:sp>
        <p:nvSpPr>
          <p:cNvPr id="10" name="Rounded Rectangle 9"/>
          <p:cNvSpPr/>
          <p:nvPr/>
        </p:nvSpPr>
        <p:spPr>
          <a:xfrm>
            <a:off x="685800" y="3959352"/>
            <a:ext cx="10820095" cy="749808"/>
          </a:xfrm>
          <a:prstGeom prst="roundRect">
            <a:avLst>
              <a:gd name="adj" fmla="val 12000"/>
            </a:avLst>
          </a:prstGeom>
          <a:solidFill>
            <a:srgbClr val="F3F0FA"/>
          </a:solidFill>
          <a:ln>
            <a:noFill/>
          </a:ln>
        </p:spPr>
        <p:txBody>
          <a:bodyPr rtlCol="0" anchor="ctr"/>
          <a:lstStyle/>
          <a:p>
            <a:pPr algn="ctr"/>
          </a:p>
        </p:txBody>
      </p:sp>
      <p:sp>
        <p:nvSpPr>
          <p:cNvPr id="11" name="TextBox 10"/>
          <p:cNvSpPr txBox="1"/>
          <p:nvPr/>
        </p:nvSpPr>
        <p:spPr>
          <a:xfrm>
            <a:off x="960120" y="3959352"/>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Remember it is a body response. They are doing the best they can.</a:t>
            </a:r>
          </a:p>
        </p:txBody>
      </p:sp>
      <p:sp>
        <p:nvSpPr>
          <p:cNvPr id="12" name="Rounded Rectangle 11"/>
          <p:cNvSpPr/>
          <p:nvPr/>
        </p:nvSpPr>
        <p:spPr>
          <a:xfrm>
            <a:off x="685800" y="4837176"/>
            <a:ext cx="10820095" cy="749808"/>
          </a:xfrm>
          <a:prstGeom prst="roundRect">
            <a:avLst>
              <a:gd name="adj" fmla="val 12000"/>
            </a:avLst>
          </a:prstGeom>
          <a:solidFill>
            <a:srgbClr val="F3F0FA"/>
          </a:solidFill>
          <a:ln>
            <a:noFill/>
          </a:ln>
        </p:spPr>
        <p:txBody>
          <a:bodyPr rtlCol="0" anchor="ctr"/>
          <a:lstStyle/>
          <a:p>
            <a:pPr algn="ctr"/>
          </a:p>
        </p:txBody>
      </p:sp>
      <p:sp>
        <p:nvSpPr>
          <p:cNvPr id="13" name="TextBox 12"/>
          <p:cNvSpPr txBox="1"/>
          <p:nvPr/>
        </p:nvSpPr>
        <p:spPr>
          <a:xfrm>
            <a:off x="960120" y="4837176"/>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Talking it through can wait until they are calm.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Self-regulation and co-regulation</a:t>
            </a:r>
          </a:p>
        </p:txBody>
      </p:sp>
      <p:sp>
        <p:nvSpPr>
          <p:cNvPr id="4" name="Rounded Rectangle 3"/>
          <p:cNvSpPr/>
          <p:nvPr/>
        </p:nvSpPr>
        <p:spPr>
          <a:xfrm>
            <a:off x="685800" y="1371600"/>
            <a:ext cx="5272888" cy="256032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4724248" cy="21031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Co-regulation</a:t>
            </a:r>
          </a:p>
          <a:p>
            <a:pPr algn="l" marL="0" indent="0">
              <a:lnSpc>
                <a:spcPct val="100000"/>
              </a:lnSpc>
              <a:spcBef>
                <a:spcPts val="800"/>
              </a:spcBef>
              <a:buNone/>
            </a:pPr>
            <a:r>
              <a:rPr lang="en-AU" sz="1800" b="0">
                <a:solidFill>
                  <a:srgbClr val="3D2A6B"/>
                </a:solidFill>
                <a:latin typeface="Arial"/>
                <a:ea typeface="Arial"/>
                <a:cs typeface="Arial"/>
              </a:rPr>
              <a:t>A calm, trusted adult helps your young person settle. Your steady presence does a lot of the work. Teenagers still need this, even when they push away.</a:t>
            </a:r>
          </a:p>
        </p:txBody>
      </p:sp>
      <p:sp>
        <p:nvSpPr>
          <p:cNvPr id="6" name="Rounded Rectangle 5"/>
          <p:cNvSpPr/>
          <p:nvPr/>
        </p:nvSpPr>
        <p:spPr>
          <a:xfrm>
            <a:off x="6233008" y="1371600"/>
            <a:ext cx="5272888" cy="256032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6507328" y="1645920"/>
            <a:ext cx="4724248" cy="21031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Self-regulation</a:t>
            </a:r>
          </a:p>
          <a:p>
            <a:pPr algn="l" marL="0" indent="0">
              <a:lnSpc>
                <a:spcPct val="100000"/>
              </a:lnSpc>
              <a:spcBef>
                <a:spcPts val="800"/>
              </a:spcBef>
              <a:buNone/>
            </a:pPr>
            <a:r>
              <a:rPr lang="en-AU" sz="1800" b="0">
                <a:solidFill>
                  <a:srgbClr val="3D2A6B"/>
                </a:solidFill>
                <a:latin typeface="Arial"/>
                <a:ea typeface="Arial"/>
                <a:cs typeface="Arial"/>
              </a:rPr>
              <a:t>What your young person does to manage their own energy and feelings. It grows over time, with support.</a:t>
            </a:r>
          </a:p>
        </p:txBody>
      </p:sp>
      <p:sp>
        <p:nvSpPr>
          <p:cNvPr id="8" name="Rounded Rectangle 7"/>
          <p:cNvSpPr/>
          <p:nvPr/>
        </p:nvSpPr>
        <p:spPr>
          <a:xfrm>
            <a:off x="685800" y="429768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9" name="TextBox 8"/>
          <p:cNvSpPr txBox="1"/>
          <p:nvPr/>
        </p:nvSpPr>
        <p:spPr>
          <a:xfrm>
            <a:off x="960120" y="429768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Co-regulation comes first. Self-regulation builds from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200" b="0">
                <a:solidFill>
                  <a:srgbClr val="584099"/>
                </a:solidFill>
                <a:latin typeface="Arial Black"/>
                <a:ea typeface="Arial Black"/>
                <a:cs typeface="Arial Black"/>
              </a:rPr>
              <a:t>The after-school crash in the teenage years</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Many Autistic young people hold it together at school and let go at home.</a:t>
            </a:r>
          </a:p>
        </p:txBody>
      </p:sp>
      <p:sp>
        <p:nvSpPr>
          <p:cNvPr id="5" name="Rounded Rectangle 4"/>
          <p:cNvSpPr/>
          <p:nvPr/>
        </p:nvSpPr>
        <p:spPr>
          <a:xfrm>
            <a:off x="685800" y="2103120"/>
            <a:ext cx="2554148" cy="274320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Recovery first</a:t>
            </a:r>
          </a:p>
          <a:p>
            <a:pPr algn="l" marL="0" indent="0">
              <a:lnSpc>
                <a:spcPct val="100000"/>
              </a:lnSpc>
              <a:spcBef>
                <a:spcPts val="800"/>
              </a:spcBef>
              <a:buNone/>
            </a:pPr>
            <a:r>
              <a:rPr lang="en-AU" sz="1700" b="0">
                <a:solidFill>
                  <a:srgbClr val="3D2A6B"/>
                </a:solidFill>
                <a:latin typeface="Arial"/>
                <a:ea typeface="Arial"/>
                <a:cs typeface="Arial"/>
              </a:rPr>
              <a:t>Food, quiet, movement or screen time, their choice, before any questions or demands.</a:t>
            </a:r>
          </a:p>
        </p:txBody>
      </p:sp>
      <p:sp>
        <p:nvSpPr>
          <p:cNvPr id="7" name="Rounded Rectangle 6"/>
          <p:cNvSpPr/>
          <p:nvPr/>
        </p:nvSpPr>
        <p:spPr>
          <a:xfrm>
            <a:off x="3441116" y="2103120"/>
            <a:ext cx="2554148" cy="274320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Talk later</a:t>
            </a:r>
          </a:p>
          <a:p>
            <a:pPr algn="l" marL="0" indent="0">
              <a:lnSpc>
                <a:spcPct val="100000"/>
              </a:lnSpc>
              <a:spcBef>
                <a:spcPts val="800"/>
              </a:spcBef>
              <a:buNone/>
            </a:pPr>
            <a:r>
              <a:rPr lang="en-AU" sz="1700" b="0">
                <a:solidFill>
                  <a:srgbClr val="3D2A6B"/>
                </a:solidFill>
                <a:latin typeface="Arial"/>
                <a:ea typeface="Arial"/>
                <a:cs typeface="Arial"/>
              </a:rPr>
              <a:t>"How was school?" can wait. They may tell you later, often late in the evening, or not at all.</a:t>
            </a:r>
          </a:p>
        </p:txBody>
      </p:sp>
      <p:sp>
        <p:nvSpPr>
          <p:cNvPr id="9" name="Rounded Rectangle 8"/>
          <p:cNvSpPr/>
          <p:nvPr/>
        </p:nvSpPr>
        <p:spPr>
          <a:xfrm>
            <a:off x="6196432" y="2103120"/>
            <a:ext cx="2554148" cy="274320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Homework can wait too</a:t>
            </a:r>
          </a:p>
          <a:p>
            <a:pPr algn="l" marL="0" indent="0">
              <a:lnSpc>
                <a:spcPct val="100000"/>
              </a:lnSpc>
              <a:spcBef>
                <a:spcPts val="800"/>
              </a:spcBef>
              <a:buNone/>
            </a:pPr>
            <a:r>
              <a:rPr lang="en-AU" sz="1700" b="0">
                <a:solidFill>
                  <a:srgbClr val="3D2A6B"/>
                </a:solidFill>
                <a:latin typeface="Arial"/>
                <a:ea typeface="Arial"/>
                <a:cs typeface="Arial"/>
              </a:rPr>
              <a:t>Straight after school, the battery is often empty.</a:t>
            </a:r>
          </a:p>
        </p:txBody>
      </p:sp>
      <p:sp>
        <p:nvSpPr>
          <p:cNvPr id="11" name="Rounded Rectangle 10"/>
          <p:cNvSpPr/>
          <p:nvPr/>
        </p:nvSpPr>
        <p:spPr>
          <a:xfrm>
            <a:off x="8951747" y="2103120"/>
            <a:ext cx="2554148" cy="274320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Keep it the same</a:t>
            </a:r>
          </a:p>
          <a:p>
            <a:pPr algn="l" marL="0" indent="0">
              <a:lnSpc>
                <a:spcPct val="100000"/>
              </a:lnSpc>
              <a:spcBef>
                <a:spcPts val="800"/>
              </a:spcBef>
              <a:buNone/>
            </a:pPr>
            <a:r>
              <a:rPr lang="en-AU" sz="1700" b="0">
                <a:solidFill>
                  <a:srgbClr val="3D2A6B"/>
                </a:solidFill>
                <a:latin typeface="Arial"/>
                <a:ea typeface="Arial"/>
                <a:cs typeface="Arial"/>
              </a:rPr>
              <a:t>A simple after-school routine they can rely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Homework and assessment at home</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Starting and planning are often the hardest parts, not the work itself.</a:t>
            </a:r>
          </a:p>
        </p:txBody>
      </p:sp>
      <p:sp>
        <p:nvSpPr>
          <p:cNvPr id="5" name="Rounded Rectangle 4"/>
          <p:cNvSpPr/>
          <p:nvPr/>
        </p:nvSpPr>
        <p:spPr>
          <a:xfrm>
            <a:off x="685800" y="2103120"/>
            <a:ext cx="2554148" cy="274320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Help with the start</a:t>
            </a:r>
          </a:p>
          <a:p>
            <a:pPr algn="l" marL="0" indent="0">
              <a:lnSpc>
                <a:spcPct val="100000"/>
              </a:lnSpc>
              <a:spcBef>
                <a:spcPts val="800"/>
              </a:spcBef>
              <a:buNone/>
            </a:pPr>
            <a:r>
              <a:rPr lang="en-AU" sz="1700" b="0">
                <a:solidFill>
                  <a:srgbClr val="3D2A6B"/>
                </a:solidFill>
                <a:latin typeface="Arial"/>
                <a:ea typeface="Arial"/>
                <a:cs typeface="Arial"/>
              </a:rPr>
              <a:t>Sit with them for the first step, or agree what the first step is.</a:t>
            </a:r>
          </a:p>
        </p:txBody>
      </p:sp>
      <p:sp>
        <p:nvSpPr>
          <p:cNvPr id="7" name="Rounded Rectangle 6"/>
          <p:cNvSpPr/>
          <p:nvPr/>
        </p:nvSpPr>
        <p:spPr>
          <a:xfrm>
            <a:off x="3441116" y="2103120"/>
            <a:ext cx="2554148" cy="274320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Make the timeline visible</a:t>
            </a:r>
          </a:p>
          <a:p>
            <a:pPr algn="l" marL="0" indent="0">
              <a:lnSpc>
                <a:spcPct val="100000"/>
              </a:lnSpc>
              <a:spcBef>
                <a:spcPts val="800"/>
              </a:spcBef>
              <a:buNone/>
            </a:pPr>
            <a:r>
              <a:rPr lang="en-AU" sz="1700" b="0">
                <a:solidFill>
                  <a:srgbClr val="3D2A6B"/>
                </a:solidFill>
                <a:latin typeface="Arial"/>
                <a:ea typeface="Arial"/>
                <a:cs typeface="Arial"/>
              </a:rPr>
              <a:t>Due dates on a calendar or wall planner, with the steps in between.</a:t>
            </a:r>
          </a:p>
        </p:txBody>
      </p:sp>
      <p:sp>
        <p:nvSpPr>
          <p:cNvPr id="9" name="Rounded Rectangle 8"/>
          <p:cNvSpPr/>
          <p:nvPr/>
        </p:nvSpPr>
        <p:spPr>
          <a:xfrm>
            <a:off x="6196432" y="2103120"/>
            <a:ext cx="2554148" cy="274320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Break it down</a:t>
            </a:r>
          </a:p>
          <a:p>
            <a:pPr algn="l" marL="0" indent="0">
              <a:lnSpc>
                <a:spcPct val="100000"/>
              </a:lnSpc>
              <a:spcBef>
                <a:spcPts val="800"/>
              </a:spcBef>
              <a:buNone/>
            </a:pPr>
            <a:r>
              <a:rPr lang="en-AU" sz="1700" b="0">
                <a:solidFill>
                  <a:srgbClr val="3D2A6B"/>
                </a:solidFill>
                <a:latin typeface="Arial"/>
                <a:ea typeface="Arial"/>
                <a:cs typeface="Arial"/>
              </a:rPr>
              <a:t>Smaller chunks with a clear finish for each one.</a:t>
            </a:r>
          </a:p>
        </p:txBody>
      </p:sp>
      <p:sp>
        <p:nvSpPr>
          <p:cNvPr id="11" name="Rounded Rectangle 10"/>
          <p:cNvSpPr/>
          <p:nvPr/>
        </p:nvSpPr>
        <p:spPr>
          <a:xfrm>
            <a:off x="8951747" y="2103120"/>
            <a:ext cx="2554148" cy="274320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Talk to school</a:t>
            </a:r>
          </a:p>
          <a:p>
            <a:pPr algn="l" marL="0" indent="0">
              <a:lnSpc>
                <a:spcPct val="100000"/>
              </a:lnSpc>
              <a:spcBef>
                <a:spcPts val="800"/>
              </a:spcBef>
              <a:buNone/>
            </a:pPr>
            <a:r>
              <a:rPr lang="en-AU" sz="1700" b="0">
                <a:solidFill>
                  <a:srgbClr val="3D2A6B"/>
                </a:solidFill>
                <a:latin typeface="Arial"/>
                <a:ea typeface="Arial"/>
                <a:cs typeface="Arial"/>
              </a:rPr>
              <a:t>If the load is too much, ask about adjustments. That is what they are for.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Interests are an anchor</a:t>
            </a:r>
          </a:p>
        </p:txBody>
      </p:sp>
      <p:sp>
        <p:nvSpPr>
          <p:cNvPr id="4" name="Rounded Rectangle 3"/>
          <p:cNvSpPr/>
          <p:nvPr/>
        </p:nvSpPr>
        <p:spPr>
          <a:xfrm>
            <a:off x="685800" y="1371600"/>
            <a:ext cx="3472586" cy="274320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Regulation</a:t>
            </a:r>
          </a:p>
          <a:p>
            <a:pPr algn="l" marL="0" indent="0">
              <a:lnSpc>
                <a:spcPct val="100000"/>
              </a:lnSpc>
              <a:spcBef>
                <a:spcPts val="800"/>
              </a:spcBef>
              <a:buNone/>
            </a:pPr>
            <a:r>
              <a:rPr lang="en-AU" sz="1800" b="0">
                <a:solidFill>
                  <a:srgbClr val="3D2A6B"/>
                </a:solidFill>
                <a:latin typeface="Arial"/>
                <a:ea typeface="Arial"/>
                <a:cs typeface="Arial"/>
              </a:rPr>
              <a:t>Time with an interest can restore energy faster than almost anything else.</a:t>
            </a:r>
          </a:p>
        </p:txBody>
      </p:sp>
      <p:sp>
        <p:nvSpPr>
          <p:cNvPr id="6" name="Rounded Rectangle 5"/>
          <p:cNvSpPr/>
          <p:nvPr/>
        </p:nvSpPr>
        <p:spPr>
          <a:xfrm>
            <a:off x="4359554" y="1371600"/>
            <a:ext cx="3472586" cy="274320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Connection</a:t>
            </a:r>
          </a:p>
          <a:p>
            <a:pPr algn="l" marL="0" indent="0">
              <a:lnSpc>
                <a:spcPct val="100000"/>
              </a:lnSpc>
              <a:spcBef>
                <a:spcPts val="800"/>
              </a:spcBef>
              <a:buNone/>
            </a:pPr>
            <a:r>
              <a:rPr lang="en-AU" sz="1800" b="0">
                <a:solidFill>
                  <a:srgbClr val="3D2A6B"/>
                </a:solidFill>
                <a:latin typeface="Arial"/>
                <a:ea typeface="Arial"/>
                <a:cs typeface="Arial"/>
              </a:rPr>
              <a:t>Their interest is a way in. Connection often starts inside their world.</a:t>
            </a:r>
          </a:p>
        </p:txBody>
      </p:sp>
      <p:sp>
        <p:nvSpPr>
          <p:cNvPr id="8" name="Rounded Rectangle 7"/>
          <p:cNvSpPr/>
          <p:nvPr/>
        </p:nvSpPr>
        <p:spPr>
          <a:xfrm>
            <a:off x="8033309" y="1371600"/>
            <a:ext cx="3472586" cy="274320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Joy and identity</a:t>
            </a:r>
          </a:p>
          <a:p>
            <a:pPr algn="l" marL="0" indent="0">
              <a:lnSpc>
                <a:spcPct val="100000"/>
              </a:lnSpc>
              <a:spcBef>
                <a:spcPts val="800"/>
              </a:spcBef>
              <a:buNone/>
            </a:pPr>
            <a:r>
              <a:rPr lang="en-AU" sz="1800" b="0">
                <a:solidFill>
                  <a:srgbClr val="3D2A6B"/>
                </a:solidFill>
                <a:latin typeface="Arial"/>
                <a:ea typeface="Arial"/>
                <a:cs typeface="Arial"/>
              </a:rPr>
              <a:t>Deep interests are part of who they are, not something to ration.</a:t>
            </a:r>
          </a:p>
        </p:txBody>
      </p:sp>
      <p:sp>
        <p:nvSpPr>
          <p:cNvPr id="10" name="Rounded Rectangle 9"/>
          <p:cNvSpPr/>
          <p:nvPr/>
        </p:nvSpPr>
        <p:spPr>
          <a:xfrm>
            <a:off x="685800" y="448056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1" name="TextBox 10"/>
          <p:cNvSpPr txBox="1"/>
          <p:nvPr/>
        </p:nvSpPr>
        <p:spPr>
          <a:xfrm>
            <a:off x="960120" y="448056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Taking an interest away as a consequence often makes regulation harder.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Growing independence</a:t>
            </a:r>
          </a:p>
        </p:txBody>
      </p:sp>
      <p:sp>
        <p:nvSpPr>
          <p:cNvPr id="4" name="Rounded Rectangle 3"/>
          <p:cNvSpPr/>
          <p:nvPr/>
        </p:nvSpPr>
        <p:spPr>
          <a:xfrm>
            <a:off x="685800" y="1371600"/>
            <a:ext cx="3472586" cy="283464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In small steps</a:t>
            </a:r>
          </a:p>
          <a:p>
            <a:pPr algn="l" marL="0" indent="0">
              <a:lnSpc>
                <a:spcPct val="100000"/>
              </a:lnSpc>
              <a:spcBef>
                <a:spcPts val="800"/>
              </a:spcBef>
              <a:buNone/>
            </a:pPr>
            <a:r>
              <a:rPr lang="en-AU" sz="1800" b="0">
                <a:solidFill>
                  <a:srgbClr val="3D2A6B"/>
                </a:solidFill>
                <a:latin typeface="Arial"/>
                <a:ea typeface="Arial"/>
                <a:cs typeface="Arial"/>
              </a:rPr>
              <a:t>Build independence one step at a time, with support that fades as confidence grows.</a:t>
            </a:r>
          </a:p>
        </p:txBody>
      </p:sp>
      <p:sp>
        <p:nvSpPr>
          <p:cNvPr id="6" name="Rounded Rectangle 5"/>
          <p:cNvSpPr/>
          <p:nvPr/>
        </p:nvSpPr>
        <p:spPr>
          <a:xfrm>
            <a:off x="4359554" y="1371600"/>
            <a:ext cx="3472586" cy="283464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Talk about risk together</a:t>
            </a:r>
          </a:p>
          <a:p>
            <a:pPr algn="l" marL="0" indent="0">
              <a:lnSpc>
                <a:spcPct val="100000"/>
              </a:lnSpc>
              <a:spcBef>
                <a:spcPts val="800"/>
              </a:spcBef>
              <a:buNone/>
            </a:pPr>
            <a:r>
              <a:rPr lang="en-AU" sz="1800" b="0">
                <a:solidFill>
                  <a:srgbClr val="3D2A6B"/>
                </a:solidFill>
                <a:latin typeface="Arial"/>
                <a:ea typeface="Arial"/>
                <a:cs typeface="Arial"/>
              </a:rPr>
              <a:t>Agree what feels safe enough, and what happens if it does not go to plan.</a:t>
            </a:r>
          </a:p>
        </p:txBody>
      </p:sp>
      <p:sp>
        <p:nvSpPr>
          <p:cNvPr id="8" name="Rounded Rectangle 7"/>
          <p:cNvSpPr/>
          <p:nvPr/>
        </p:nvSpPr>
        <p:spPr>
          <a:xfrm>
            <a:off x="8033309" y="1371600"/>
            <a:ext cx="3472586" cy="283464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Home as a safe base</a:t>
            </a:r>
          </a:p>
          <a:p>
            <a:pPr algn="l" marL="0" indent="0">
              <a:lnSpc>
                <a:spcPct val="100000"/>
              </a:lnSpc>
              <a:spcBef>
                <a:spcPts val="800"/>
              </a:spcBef>
              <a:buNone/>
            </a:pPr>
            <a:r>
              <a:rPr lang="en-AU" sz="1800" b="0">
                <a:solidFill>
                  <a:srgbClr val="3D2A6B"/>
                </a:solidFill>
                <a:latin typeface="Arial"/>
                <a:ea typeface="Arial"/>
                <a:cs typeface="Arial"/>
              </a:rPr>
              <a:t>The teenage years bring a changing identity. Home can be the place they can be fully themselves.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Sleep and screens</a:t>
            </a:r>
          </a:p>
        </p:txBody>
      </p:sp>
      <p:sp>
        <p:nvSpPr>
          <p:cNvPr id="4" name="Rounded Rectangle 3"/>
          <p:cNvSpPr/>
          <p:nvPr/>
        </p:nvSpPr>
        <p:spPr>
          <a:xfrm>
            <a:off x="685800" y="1371600"/>
            <a:ext cx="3472586" cy="283464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Sleep matters</a:t>
            </a:r>
          </a:p>
          <a:p>
            <a:pPr algn="l" marL="0" indent="0">
              <a:lnSpc>
                <a:spcPct val="100000"/>
              </a:lnSpc>
              <a:spcBef>
                <a:spcPts val="800"/>
              </a:spcBef>
              <a:buNone/>
            </a:pPr>
            <a:r>
              <a:rPr lang="en-AU" sz="1800" b="0">
                <a:solidFill>
                  <a:srgbClr val="3D2A6B"/>
                </a:solidFill>
                <a:latin typeface="Arial"/>
                <a:ea typeface="Arial"/>
                <a:cs typeface="Arial"/>
              </a:rPr>
              <a:t>Tiredness lowers everyone's capacity. Many Autistic young people have trouble with sleep.</a:t>
            </a:r>
          </a:p>
        </p:txBody>
      </p:sp>
      <p:sp>
        <p:nvSpPr>
          <p:cNvPr id="6" name="Rounded Rectangle 5"/>
          <p:cNvSpPr/>
          <p:nvPr/>
        </p:nvSpPr>
        <p:spPr>
          <a:xfrm>
            <a:off x="4359554" y="1371600"/>
            <a:ext cx="3472586" cy="283464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Screens do many jobs</a:t>
            </a:r>
          </a:p>
          <a:p>
            <a:pPr algn="l" marL="0" indent="0">
              <a:lnSpc>
                <a:spcPct val="100000"/>
              </a:lnSpc>
              <a:spcBef>
                <a:spcPts val="800"/>
              </a:spcBef>
              <a:buNone/>
            </a:pPr>
            <a:r>
              <a:rPr lang="en-AU" sz="1800" b="0">
                <a:solidFill>
                  <a:srgbClr val="3D2A6B"/>
                </a:solidFill>
                <a:latin typeface="Arial"/>
                <a:ea typeface="Arial"/>
                <a:cs typeface="Arial"/>
              </a:rPr>
              <a:t>Rest, regulation, connection and interests, as well as the things we worry about.</a:t>
            </a:r>
          </a:p>
        </p:txBody>
      </p:sp>
      <p:sp>
        <p:nvSpPr>
          <p:cNvPr id="8" name="Rounded Rectangle 7"/>
          <p:cNvSpPr/>
          <p:nvPr/>
        </p:nvSpPr>
        <p:spPr>
          <a:xfrm>
            <a:off x="8033309" y="1371600"/>
            <a:ext cx="3472586" cy="283464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3774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Honest trade-offs</a:t>
            </a:r>
          </a:p>
          <a:p>
            <a:pPr algn="l" marL="0" indent="0">
              <a:lnSpc>
                <a:spcPct val="100000"/>
              </a:lnSpc>
              <a:spcBef>
                <a:spcPts val="800"/>
              </a:spcBef>
              <a:buNone/>
            </a:pPr>
            <a:r>
              <a:rPr lang="en-AU" sz="1800" b="0">
                <a:solidFill>
                  <a:srgbClr val="3D2A6B"/>
                </a:solidFill>
                <a:latin typeface="Arial"/>
                <a:ea typeface="Arial"/>
                <a:cs typeface="Arial"/>
              </a:rPr>
              <a:t>Work out together what matters most for your family right now, and review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p>
        </p:txBody>
      </p:sp>
      <p:sp>
        <p:nvSpPr>
          <p:cNvPr id="3" name="Oval 2"/>
          <p:cNvSpPr/>
          <p:nvPr/>
        </p:nvSpPr>
        <p:spPr>
          <a:xfrm>
            <a:off x="9052560" y="4023360"/>
            <a:ext cx="4754880" cy="4754880"/>
          </a:xfrm>
          <a:prstGeom prst="ellipse">
            <a:avLst/>
          </a:prstGeom>
          <a:solidFill>
            <a:srgbClr val="6A52A8"/>
          </a:solidFill>
          <a:ln>
            <a:noFill/>
          </a:ln>
        </p:spPr>
        <p:txBody>
          <a:bodyPr rtlCol="0" anchor="ctr"/>
          <a:lstStyle/>
          <a:p>
            <a:pPr algn="ctr"/>
          </a:p>
        </p:txBody>
      </p:sp>
      <p:sp>
        <p:nvSpPr>
          <p:cNvPr id="4"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FFFFFF"/>
                </a:solidFill>
                <a:latin typeface="Arial Black"/>
                <a:ea typeface="Arial Black"/>
                <a:cs typeface="Arial Black"/>
              </a:rPr>
              <a:t>One step towards independence</a:t>
            </a:r>
          </a:p>
        </p:txBody>
      </p:sp>
      <p:sp>
        <p:nvSpPr>
          <p:cNvPr id="5" name="TextBox 4"/>
          <p:cNvSpPr txBox="1"/>
          <p:nvPr/>
        </p:nvSpPr>
        <p:spPr>
          <a:xfrm>
            <a:off x="685800" y="1371600"/>
            <a:ext cx="10241280" cy="8229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FFFFFF"/>
                </a:solidFill>
                <a:latin typeface="Arial"/>
                <a:ea typeface="Arial"/>
                <a:cs typeface="Arial"/>
              </a:rPr>
              <a:t>Think of one thing your young person could do more independently.</a:t>
            </a:r>
          </a:p>
        </p:txBody>
      </p:sp>
      <p:sp>
        <p:nvSpPr>
          <p:cNvPr id="6" name="Oval 5"/>
          <p:cNvSpPr/>
          <p:nvPr/>
        </p:nvSpPr>
        <p:spPr>
          <a:xfrm>
            <a:off x="685800" y="2331720"/>
            <a:ext cx="384048" cy="384048"/>
          </a:xfrm>
          <a:prstGeom prst="ellipse">
            <a:avLst/>
          </a:prstGeom>
          <a:solidFill>
            <a:srgbClr val="584099"/>
          </a:solidFill>
          <a:ln w="15875">
            <a:solidFill>
              <a:srgbClr val="FFFFFF"/>
            </a:solidFill>
          </a:ln>
        </p:spPr>
        <p:txBody>
          <a:bodyPr rtlCol="0" anchor="ctr"/>
          <a:lstStyle/>
          <a:p>
            <a:pPr algn="ctr"/>
          </a:p>
        </p:txBody>
      </p:sp>
      <p:sp>
        <p:nvSpPr>
          <p:cNvPr id="7" name="TextBox 6"/>
          <p:cNvSpPr txBox="1"/>
          <p:nvPr/>
        </p:nvSpPr>
        <p:spPr>
          <a:xfrm>
            <a:off x="685800" y="2331720"/>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1</a:t>
            </a:r>
          </a:p>
        </p:txBody>
      </p:sp>
      <p:sp>
        <p:nvSpPr>
          <p:cNvPr id="8" name="TextBox 7"/>
          <p:cNvSpPr txBox="1"/>
          <p:nvPr/>
        </p:nvSpPr>
        <p:spPr>
          <a:xfrm>
            <a:off x="1280160" y="2286000"/>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What is it? Catching a bus, cooking a meal, managing money, contacting a teacher...</a:t>
            </a:r>
          </a:p>
        </p:txBody>
      </p:sp>
      <p:sp>
        <p:nvSpPr>
          <p:cNvPr id="9" name="Oval 8"/>
          <p:cNvSpPr/>
          <p:nvPr/>
        </p:nvSpPr>
        <p:spPr>
          <a:xfrm>
            <a:off x="685800" y="2990088"/>
            <a:ext cx="384048" cy="384048"/>
          </a:xfrm>
          <a:prstGeom prst="ellipse">
            <a:avLst/>
          </a:prstGeom>
          <a:solidFill>
            <a:srgbClr val="584099"/>
          </a:solidFill>
          <a:ln w="15875">
            <a:solidFill>
              <a:srgbClr val="FFFFFF"/>
            </a:solidFill>
          </a:ln>
        </p:spPr>
        <p:txBody>
          <a:bodyPr rtlCol="0" anchor="ctr"/>
          <a:lstStyle/>
          <a:p>
            <a:pPr algn="ctr"/>
          </a:p>
        </p:txBody>
      </p:sp>
      <p:sp>
        <p:nvSpPr>
          <p:cNvPr id="10" name="TextBox 9"/>
          <p:cNvSpPr txBox="1"/>
          <p:nvPr/>
        </p:nvSpPr>
        <p:spPr>
          <a:xfrm>
            <a:off x="685800" y="2990088"/>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2</a:t>
            </a:r>
          </a:p>
        </p:txBody>
      </p:sp>
      <p:sp>
        <p:nvSpPr>
          <p:cNvPr id="11" name="TextBox 10"/>
          <p:cNvSpPr txBox="1"/>
          <p:nvPr/>
        </p:nvSpPr>
        <p:spPr>
          <a:xfrm>
            <a:off x="1280160" y="2944368"/>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What is the first small step?</a:t>
            </a:r>
          </a:p>
        </p:txBody>
      </p:sp>
      <p:sp>
        <p:nvSpPr>
          <p:cNvPr id="12" name="Oval 11"/>
          <p:cNvSpPr/>
          <p:nvPr/>
        </p:nvSpPr>
        <p:spPr>
          <a:xfrm>
            <a:off x="685800" y="3648456"/>
            <a:ext cx="384048" cy="384048"/>
          </a:xfrm>
          <a:prstGeom prst="ellipse">
            <a:avLst/>
          </a:prstGeom>
          <a:solidFill>
            <a:srgbClr val="584099"/>
          </a:solidFill>
          <a:ln w="15875">
            <a:solidFill>
              <a:srgbClr val="FFFFFF"/>
            </a:solidFill>
          </a:ln>
        </p:spPr>
        <p:txBody>
          <a:bodyPr rtlCol="0" anchor="ctr"/>
          <a:lstStyle/>
          <a:p>
            <a:pPr algn="ctr"/>
          </a:p>
        </p:txBody>
      </p:sp>
      <p:sp>
        <p:nvSpPr>
          <p:cNvPr id="13" name="TextBox 12"/>
          <p:cNvSpPr txBox="1"/>
          <p:nvPr/>
        </p:nvSpPr>
        <p:spPr>
          <a:xfrm>
            <a:off x="685800" y="3648456"/>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3</a:t>
            </a:r>
          </a:p>
        </p:txBody>
      </p:sp>
      <p:sp>
        <p:nvSpPr>
          <p:cNvPr id="14" name="TextBox 13"/>
          <p:cNvSpPr txBox="1"/>
          <p:nvPr/>
        </p:nvSpPr>
        <p:spPr>
          <a:xfrm>
            <a:off x="1280160" y="3602736"/>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What support stays in place, and how will you review it together?</a:t>
            </a:r>
          </a:p>
        </p:txBody>
      </p:sp>
      <p:sp>
        <p:nvSpPr>
          <p:cNvPr id="15" name="Oval 14"/>
          <p:cNvSpPr/>
          <p:nvPr/>
        </p:nvSpPr>
        <p:spPr>
          <a:xfrm>
            <a:off x="685800" y="4306824"/>
            <a:ext cx="384048" cy="384048"/>
          </a:xfrm>
          <a:prstGeom prst="ellipse">
            <a:avLst/>
          </a:prstGeom>
          <a:solidFill>
            <a:srgbClr val="584099"/>
          </a:solidFill>
          <a:ln w="15875">
            <a:solidFill>
              <a:srgbClr val="FFFFFF"/>
            </a:solidFill>
          </a:ln>
        </p:spPr>
        <p:txBody>
          <a:bodyPr rtlCol="0" anchor="ctr"/>
          <a:lstStyle/>
          <a:p>
            <a:pPr algn="ctr"/>
          </a:p>
        </p:txBody>
      </p:sp>
      <p:sp>
        <p:nvSpPr>
          <p:cNvPr id="16" name="TextBox 15"/>
          <p:cNvSpPr txBox="1"/>
          <p:nvPr/>
        </p:nvSpPr>
        <p:spPr>
          <a:xfrm>
            <a:off x="685800" y="4306824"/>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4</a:t>
            </a:r>
          </a:p>
        </p:txBody>
      </p:sp>
      <p:sp>
        <p:nvSpPr>
          <p:cNvPr id="17" name="TextBox 16"/>
          <p:cNvSpPr txBox="1"/>
          <p:nvPr/>
        </p:nvSpPr>
        <p:spPr>
          <a:xfrm>
            <a:off x="1280160" y="4261104"/>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Share one idea with your 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Your own battery counts</a:t>
            </a:r>
          </a:p>
        </p:txBody>
      </p:sp>
      <p:sp>
        <p:nvSpPr>
          <p:cNvPr id="4" name="Rounded Rectangle 3"/>
          <p:cNvSpPr/>
          <p:nvPr/>
        </p:nvSpPr>
        <p:spPr>
          <a:xfrm>
            <a:off x="685800" y="1371600"/>
            <a:ext cx="3472586" cy="274320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It helps your young person</a:t>
            </a:r>
          </a:p>
          <a:p>
            <a:pPr algn="l" marL="0" indent="0">
              <a:lnSpc>
                <a:spcPct val="100000"/>
              </a:lnSpc>
              <a:spcBef>
                <a:spcPts val="800"/>
              </a:spcBef>
              <a:buNone/>
            </a:pPr>
            <a:r>
              <a:rPr lang="en-AU" sz="1800" b="0">
                <a:solidFill>
                  <a:srgbClr val="3D2A6B"/>
                </a:solidFill>
                <a:latin typeface="Arial"/>
                <a:ea typeface="Arial"/>
                <a:cs typeface="Arial"/>
              </a:rPr>
              <a:t>It is hard to help someone else stay calm when you are running on empty.</a:t>
            </a:r>
          </a:p>
        </p:txBody>
      </p:sp>
      <p:sp>
        <p:nvSpPr>
          <p:cNvPr id="6" name="Rounded Rectangle 5"/>
          <p:cNvSpPr/>
          <p:nvPr/>
        </p:nvSpPr>
        <p:spPr>
          <a:xfrm>
            <a:off x="4359554" y="1371600"/>
            <a:ext cx="3472586" cy="274320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Small and daily</a:t>
            </a:r>
          </a:p>
          <a:p>
            <a:pPr algn="l" marL="0" indent="0">
              <a:lnSpc>
                <a:spcPct val="100000"/>
              </a:lnSpc>
              <a:spcBef>
                <a:spcPts val="800"/>
              </a:spcBef>
              <a:buNone/>
            </a:pPr>
            <a:r>
              <a:rPr lang="en-AU" sz="1800" b="0">
                <a:solidFill>
                  <a:srgbClr val="3D2A6B"/>
                </a:solidFill>
                <a:latin typeface="Arial"/>
                <a:ea typeface="Arial"/>
                <a:cs typeface="Arial"/>
              </a:rPr>
              <a:t>Ten minutes, a walk, a cup of tea in peace, asking for help.</a:t>
            </a:r>
          </a:p>
        </p:txBody>
      </p:sp>
      <p:sp>
        <p:nvSpPr>
          <p:cNvPr id="8" name="Rounded Rectangle 7"/>
          <p:cNvSpPr/>
          <p:nvPr/>
        </p:nvSpPr>
        <p:spPr>
          <a:xfrm>
            <a:off x="8033309" y="1371600"/>
            <a:ext cx="3472586" cy="274320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Your supports</a:t>
            </a:r>
          </a:p>
          <a:p>
            <a:pPr algn="l" marL="0" indent="0">
              <a:lnSpc>
                <a:spcPct val="100000"/>
              </a:lnSpc>
              <a:spcBef>
                <a:spcPts val="800"/>
              </a:spcBef>
              <a:buNone/>
            </a:pPr>
            <a:r>
              <a:rPr lang="en-AU" sz="1800" b="0">
                <a:solidFill>
                  <a:srgbClr val="3D2A6B"/>
                </a:solidFill>
                <a:latin typeface="Arial"/>
                <a:ea typeface="Arial"/>
                <a:cs typeface="Arial"/>
              </a:rPr>
              <a:t>A partner, family, friends, other parents. The people in this room are one of them.</a:t>
            </a:r>
          </a:p>
        </p:txBody>
      </p:sp>
      <p:sp>
        <p:nvSpPr>
          <p:cNvPr id="10" name="Rounded Rectangle 9"/>
          <p:cNvSpPr/>
          <p:nvPr/>
        </p:nvSpPr>
        <p:spPr>
          <a:xfrm>
            <a:off x="685800" y="448056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1" name="TextBox 10"/>
          <p:cNvSpPr txBox="1"/>
          <p:nvPr/>
        </p:nvSpPr>
        <p:spPr>
          <a:xfrm>
            <a:off x="960120" y="448056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Looking after yourself is part of looking after your family.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p>
        </p:txBody>
      </p:sp>
      <p:sp>
        <p:nvSpPr>
          <p:cNvPr id="3" name="Oval 2"/>
          <p:cNvSpPr/>
          <p:nvPr/>
        </p:nvSpPr>
        <p:spPr>
          <a:xfrm>
            <a:off x="9052560" y="4023360"/>
            <a:ext cx="4754880" cy="4754880"/>
          </a:xfrm>
          <a:prstGeom prst="ellipse">
            <a:avLst/>
          </a:prstGeom>
          <a:solidFill>
            <a:srgbClr val="6A52A8"/>
          </a:solidFill>
          <a:ln>
            <a:noFill/>
          </a:ln>
        </p:spPr>
        <p:txBody>
          <a:bodyPr rtlCol="0" anchor="ctr"/>
          <a:lstStyle/>
          <a:p>
            <a:pPr algn="ctr"/>
          </a:p>
        </p:txBody>
      </p:sp>
      <p:sp>
        <p:nvSpPr>
          <p:cNvPr id="4"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FFFFFF"/>
                </a:solidFill>
                <a:latin typeface="Arial Black"/>
                <a:ea typeface="Arial Black"/>
                <a:cs typeface="Arial Black"/>
              </a:rPr>
              <a:t>Let's share what works</a:t>
            </a:r>
          </a:p>
        </p:txBody>
      </p:sp>
      <p:sp>
        <p:nvSpPr>
          <p:cNvPr id="5" name="TextBox 4"/>
          <p:cNvSpPr txBox="1"/>
          <p:nvPr/>
        </p:nvSpPr>
        <p:spPr>
          <a:xfrm>
            <a:off x="685800" y="1371600"/>
            <a:ext cx="10241280" cy="8229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FFFFFF"/>
                </a:solidFill>
                <a:latin typeface="Arial"/>
                <a:ea typeface="Arial"/>
                <a:cs typeface="Arial"/>
              </a:rPr>
              <a:t>Families know a lot. Share one thing that works in your home.</a:t>
            </a:r>
          </a:p>
        </p:txBody>
      </p:sp>
      <p:sp>
        <p:nvSpPr>
          <p:cNvPr id="6" name="Oval 5"/>
          <p:cNvSpPr/>
          <p:nvPr/>
        </p:nvSpPr>
        <p:spPr>
          <a:xfrm>
            <a:off x="685800" y="2331720"/>
            <a:ext cx="384048" cy="384048"/>
          </a:xfrm>
          <a:prstGeom prst="ellipse">
            <a:avLst/>
          </a:prstGeom>
          <a:solidFill>
            <a:srgbClr val="584099"/>
          </a:solidFill>
          <a:ln w="15875">
            <a:solidFill>
              <a:srgbClr val="FFFFFF"/>
            </a:solidFill>
          </a:ln>
        </p:spPr>
        <p:txBody>
          <a:bodyPr rtlCol="0" anchor="ctr"/>
          <a:lstStyle/>
          <a:p>
            <a:pPr algn="ctr"/>
          </a:p>
        </p:txBody>
      </p:sp>
      <p:sp>
        <p:nvSpPr>
          <p:cNvPr id="7" name="TextBox 6"/>
          <p:cNvSpPr txBox="1"/>
          <p:nvPr/>
        </p:nvSpPr>
        <p:spPr>
          <a:xfrm>
            <a:off x="685800" y="2331720"/>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1</a:t>
            </a:r>
          </a:p>
        </p:txBody>
      </p:sp>
      <p:sp>
        <p:nvSpPr>
          <p:cNvPr id="8" name="TextBox 7"/>
          <p:cNvSpPr txBox="1"/>
          <p:nvPr/>
        </p:nvSpPr>
        <p:spPr>
          <a:xfrm>
            <a:off x="1280160" y="2286000"/>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Mornings, after school, homework, sleep, screens or your own battery.</a:t>
            </a:r>
          </a:p>
        </p:txBody>
      </p:sp>
      <p:sp>
        <p:nvSpPr>
          <p:cNvPr id="9" name="Oval 8"/>
          <p:cNvSpPr/>
          <p:nvPr/>
        </p:nvSpPr>
        <p:spPr>
          <a:xfrm>
            <a:off x="685800" y="2990088"/>
            <a:ext cx="384048" cy="384048"/>
          </a:xfrm>
          <a:prstGeom prst="ellipse">
            <a:avLst/>
          </a:prstGeom>
          <a:solidFill>
            <a:srgbClr val="584099"/>
          </a:solidFill>
          <a:ln w="15875">
            <a:solidFill>
              <a:srgbClr val="FFFFFF"/>
            </a:solidFill>
          </a:ln>
        </p:spPr>
        <p:txBody>
          <a:bodyPr rtlCol="0" anchor="ctr"/>
          <a:lstStyle/>
          <a:p>
            <a:pPr algn="ctr"/>
          </a:p>
        </p:txBody>
      </p:sp>
      <p:sp>
        <p:nvSpPr>
          <p:cNvPr id="10" name="TextBox 9"/>
          <p:cNvSpPr txBox="1"/>
          <p:nvPr/>
        </p:nvSpPr>
        <p:spPr>
          <a:xfrm>
            <a:off x="685800" y="2990088"/>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2</a:t>
            </a:r>
          </a:p>
        </p:txBody>
      </p:sp>
      <p:sp>
        <p:nvSpPr>
          <p:cNvPr id="11" name="TextBox 10"/>
          <p:cNvSpPr txBox="1"/>
          <p:nvPr/>
        </p:nvSpPr>
        <p:spPr>
          <a:xfrm>
            <a:off x="1280160" y="2944368"/>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Each person shares one idea with the table.</a:t>
            </a:r>
          </a:p>
        </p:txBody>
      </p:sp>
      <p:sp>
        <p:nvSpPr>
          <p:cNvPr id="12" name="Oval 11"/>
          <p:cNvSpPr/>
          <p:nvPr/>
        </p:nvSpPr>
        <p:spPr>
          <a:xfrm>
            <a:off x="685800" y="3648456"/>
            <a:ext cx="384048" cy="384048"/>
          </a:xfrm>
          <a:prstGeom prst="ellipse">
            <a:avLst/>
          </a:prstGeom>
          <a:solidFill>
            <a:srgbClr val="584099"/>
          </a:solidFill>
          <a:ln w="15875">
            <a:solidFill>
              <a:srgbClr val="FFFFFF"/>
            </a:solidFill>
          </a:ln>
        </p:spPr>
        <p:txBody>
          <a:bodyPr rtlCol="0" anchor="ctr"/>
          <a:lstStyle/>
          <a:p>
            <a:pPr algn="ctr"/>
          </a:p>
        </p:txBody>
      </p:sp>
      <p:sp>
        <p:nvSpPr>
          <p:cNvPr id="13" name="TextBox 12"/>
          <p:cNvSpPr txBox="1"/>
          <p:nvPr/>
        </p:nvSpPr>
        <p:spPr>
          <a:xfrm>
            <a:off x="685800" y="3648456"/>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3</a:t>
            </a:r>
          </a:p>
        </p:txBody>
      </p:sp>
      <p:sp>
        <p:nvSpPr>
          <p:cNvPr id="14" name="TextBox 13"/>
          <p:cNvSpPr txBox="1"/>
          <p:nvPr/>
        </p:nvSpPr>
        <p:spPr>
          <a:xfrm>
            <a:off x="1280160" y="3602736"/>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Write down one idea you would like to try.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959C572B-12B9-405D-919C-282FBDEA53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bb3e21-4545-485a-b693-7e527aa5b0a1"/>
    <ds:schemaRef ds:uri="27f1137f-2ca6-4fef-8072-b9e4ddf9f8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5665E-583E-409D-BD0B-29BD6D9F229F}">
  <ds:schemaRefs>
    <ds:schemaRef ds:uri="http://schemas.microsoft.com/sharepoint/v3/contenttype/forms"/>
  </ds:schemaRefs>
</ds:datastoreItem>
</file>

<file path=customXml/itemProps3.xml><?xml version="1.0" encoding="utf-8"?>
<ds:datastoreItem xmlns:ds="http://schemas.openxmlformats.org/officeDocument/2006/customXml" ds:itemID="{46F42DEE-BB42-49AB-911B-9E6CEDB35B14}">
  <ds:schemaRefs>
    <ds:schemaRef ds:uri="http://schemas.microsoft.com/office/2006/metadata/properties"/>
    <ds:schemaRef ds:uri="http://schemas.microsoft.com/office/infopath/2007/PartnerControls"/>
    <ds:schemaRef ds:uri="f0bb3e21-4545-485a-b693-7e527aa5b0a1"/>
    <ds:schemaRef ds:uri="27f1137f-2ca6-4fef-8072-b9e4ddf9f88d"/>
  </ds:schemaRefs>
</ds:datastoreItem>
</file>

<file path=docProps/app.xml><?xml version="1.0" encoding="utf-8"?>
<Properties xmlns="http://schemas.openxmlformats.org/officeDocument/2006/extended-properties" xmlns:vt="http://schemas.openxmlformats.org/officeDocument/2006/docPropsVTypes">
  <TotalTime>247</TotalTime>
  <Words>2427</Words>
  <Application>Microsoft Macintosh PowerPoint</Application>
  <PresentationFormat>Widescreen</PresentationFormat>
  <Paragraphs>261</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Arial Black</vt:lpstr>
      <vt:lpstr>Calibri</vt:lpstr>
      <vt:lpstr>Work Sans</vt:lpstr>
      <vt:lpstr>Office Theme</vt:lpstr>
      <vt:lpstr>PowerPoint Presentation</vt:lpstr>
      <vt:lpstr>PowerPoint Presentation</vt:lpstr>
      <vt:lpstr>PowerPoint Presentation</vt:lpstr>
      <vt:lpstr>Start · Continue · Reconsider</vt:lpstr>
      <vt:lpstr>PowerPoint Presentation</vt:lpstr>
      <vt:lpstr>PowerPoint Presentation</vt:lpstr>
      <vt:lpstr>Final reflection</vt:lpstr>
      <vt:lpstr>Connections that continue</vt:lpstr>
      <vt:lpstr>PowerPoint Presentation</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Alison Macrae</dc:creator>
  <cp:lastModifiedBy>Craig Smith</cp:lastModifiedBy>
  <cp:revision>16</cp:revision>
  <dcterms:created xsi:type="dcterms:W3CDTF">2026-08-14T00:15:56Z</dcterms:created>
  <dcterms:modified xsi:type="dcterms:W3CDTF">2026-09-25T06:46:12Z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