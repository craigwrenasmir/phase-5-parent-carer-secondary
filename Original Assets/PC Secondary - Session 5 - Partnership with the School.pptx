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346_3E00D4D8.xml" ContentType="application/vnd.ms-powerpoint.comments+xml"/>
  <Override PartName="/ppt/comments/modernComment_34C_A86DA66C.xml" ContentType="application/vnd.ms-powerpoint.comments+xml"/>
  <Override PartName="/ppt/media/image2.svg" ContentType="image/svg+xml"/>
  <Override PartName="/ppt/media/image4.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825" r:id="rId5"/>
    <p:sldId id="838" r:id="rId6"/>
    <p:sldId id="837" r:id="rId7"/>
    <p:sldId id="844" r:id="rId8"/>
    <p:sldId id="267" r:id="rId9"/>
    <p:sldId id="849" r:id="rId10"/>
    <p:sldId id="845" r:id="rId11"/>
    <p:sldId id="851" r:id="rId15"/>
    <p:sldId id="857" r:id="rId31"/>
    <p:sldId id="855" r:id="rId29"/>
    <p:sldId id="572" r:id="rId18"/>
    <p:sldId id="847" r:id="rId19"/>
    <p:sldId id="358" r:id="rId20"/>
    <p:sldId id="858" r:id="rId32"/>
    <p:sldId id="85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78"/>
  </p:normalViewPr>
  <p:slideViewPr>
    <p:cSldViewPr snapToGrid="0">
      <p:cViewPr varScale="1">
        <p:scale>
          <a:sx n="117" d="100"/>
          <a:sy n="117" d="100"/>
        </p:scale>
        <p:origin x="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5" Type="http://schemas.openxmlformats.org/officeDocument/2006/relationships/slide" Target="slides/slide9.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8/10/relationships/authors" Target="authors.xml"/><Relationship Id="rId29" Type="http://schemas.openxmlformats.org/officeDocument/2006/relationships/slide" Target="slides/slide11.xml"/><Relationship Id="rId31" Type="http://schemas.openxmlformats.org/officeDocument/2006/relationships/slide" Target="slides/slide10.xml"/><Relationship Id="rId32"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4:04.942" v="11" actId="1076"/>
      <pc:docMkLst>
        <pc:docMk/>
      </pc:docMkLst>
      <pc:sldChg chg="addSp delSp modSp">
        <pc:chgData name="Jen Cousins" userId="S::jcousins@autismspectrum.org.au::e5107725-ce0a-4006-bfb3-3787c68d621c" providerId="AD" clId="Web-{00000000-0000-0000-0000-000000000000}" dt="2026-08-25T01:14:04.942" v="11" actId="1076"/>
        <pc:sldMkLst>
          <pc:docMk/>
          <pc:sldMk cId="3674033657" sldId="847"/>
        </pc:sldMkLst>
        <pc:spChg chg="mod">
          <ac:chgData name="Jen Cousins" userId="S::jcousins@autismspectrum.org.au::e5107725-ce0a-4006-bfb3-3787c68d621c" providerId="AD" clId="Web-{00000000-0000-0000-0000-000000000000}" dt="2026-08-25T01:14:04.942" v="11" actId="1076"/>
          <ac:spMkLst>
            <pc:docMk/>
            <pc:sldMk cId="3674033657" sldId="847"/>
            <ac:spMk id="2" creationId="{6BFC9AB3-31EC-27A9-8206-7C0BE658E8B7}"/>
          </ac:spMkLst>
        </pc:spChg>
        <pc:picChg chg="add mod ord">
          <ac:chgData name="Jen Cousins" userId="S::jcousins@autismspectrum.org.au::e5107725-ce0a-4006-bfb3-3787c68d621c" providerId="AD" clId="Web-{00000000-0000-0000-0000-000000000000}" dt="2026-08-25T01:13:48.894" v="9"/>
          <ac:picMkLst>
            <pc:docMk/>
            <pc:sldMk cId="3674033657" sldId="847"/>
            <ac:picMk id="4" creationId="{A5C575AF-C7D4-085E-94F7-3A72A52D6DAC}"/>
          </ac:picMkLst>
        </pc:picChg>
        <pc:picChg chg="add mod">
          <ac:chgData name="Jen Cousins" userId="S::jcousins@autismspectrum.org.au::e5107725-ce0a-4006-bfb3-3787c68d621c" providerId="AD" clId="Web-{00000000-0000-0000-0000-000000000000}" dt="2026-08-25T01:13:54.207" v="10"/>
          <ac:picMkLst>
            <pc:docMk/>
            <pc:sldMk cId="3674033657" sldId="847"/>
            <ac:picMk id="5" creationId="{C27A36B8-FF2A-0D74-971A-0E4E85BADCA9}"/>
          </ac:picMkLst>
        </pc:picChg>
      </pc:sldChg>
    </pc:docChg>
  </pc:docChgLst>
</pc:chgInfo>
</file>

<file path=ppt/comments/modernComment_34C_A86DA66C.xml><?xml version="1.0" encoding="utf-8"?>
<p188:cmLst xmlns:a="http://schemas.openxmlformats.org/drawingml/2006/main" xmlns:r="http://schemas.openxmlformats.org/officeDocument/2006/relationships" xmlns:p188="http://schemas.microsoft.com/office/powerpoint/2018/8/main">
  <p188:cm id="{C807BA1F-ACAC-4181-AB02-C252BC20F6B1}" authorId="{94DEC358-9AF5-9F80-E7CA-D932E5596AC8}" created="2026-08-14T00:28:52.242">
    <ac:txMkLst xmlns:ac="http://schemas.microsoft.com/office/drawing/2013/main/command">
      <pc:docMk xmlns:pc="http://schemas.microsoft.com/office/powerpoint/2013/main/command"/>
      <pc:sldMk xmlns:pc="http://schemas.microsoft.com/office/powerpoint/2013/main/command" cId="2825758316" sldId="844"/>
      <ac:spMk id="4" creationId="{E3FD5D71-F8F8-00AA-C427-EBCCF0660E1C}"/>
      <ac:txMk cp="125" len="18">
        <ac:context len="144" hash="841651859"/>
      </ac:txMk>
    </ac:txMkLst>
    <p188:pos x="2824455" y="3280648"/>
    <p188:txBody>
      <a:bodyPr/>
      <a:lstStyle/>
      <a:p>
        <a:r>
          <a:rPr lang="en-AU"/>
          <a:t>Added this one in as it lands well with all parties and shifts perpectives</a:t>
        </a:r>
      </a:p>
    </p188:txBody>
  </p188:cm>
</p188:cmLst>
</file>

<file path=ppt/comments/modernComment_346_3E00D4D8.xml><?xml version="1.0" encoding="utf-8"?>
<p188:cmLst xmlns:a="http://schemas.openxmlformats.org/drawingml/2006/main" xmlns:r="http://schemas.openxmlformats.org/officeDocument/2006/relationships" xmlns:p188="http://schemas.microsoft.com/office/powerpoint/2018/8/main">
  <p188:cm id="{9A2E3823-3A5D-4D7E-8175-8FFB0A015633}" authorId="{94DEC358-9AF5-9F80-E7CA-D932E5596AC8}" created="2026-08-14T00:36:04.317">
    <ac:txMkLst xmlns:ac="http://schemas.microsoft.com/office/drawing/2013/main/command">
      <pc:docMk xmlns:pc="http://schemas.microsoft.com/office/powerpoint/2013/main/command"/>
      <pc:sldMk xmlns:pc="http://schemas.microsoft.com/office/powerpoint/2013/main/command" cId="1040241880" sldId="838"/>
      <ac:spMk id="5" creationId="{05A4E05F-DA50-6B99-BED1-648587EBB414}"/>
      <ac:txMk cp="0" len="23">
        <ac:context len="24" hash="2699318344"/>
      </ac:txMk>
    </ac:txMkLst>
    <p188:pos x="5065408" y="428754"/>
    <p188:txBody>
      <a:bodyPr/>
      <a:lstStyle/>
      <a:p>
        <a:r>
          <a:rPr lang="en-AU"/>
          <a:t>As this session time is so limited we discussed that we could use it as an opportunity to see where all the partnerships converge and what skills are needed for success across all partnerships.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717EB-867A-43D8-909C-6209D0EC13B1}"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87F1C-BD57-478D-B104-476A213D31F6}" type="slidenum">
              <a:rPr lang="en-AU" smtClean="0"/>
              <a:t>‹#›</a:t>
            </a:fld>
            <a:endParaRPr lang="en-AU"/>
          </a:p>
        </p:txBody>
      </p:sp>
    </p:spTree>
    <p:extLst>
      <p:ext uri="{BB962C8B-B14F-4D97-AF65-F5344CB8AC3E}">
        <p14:creationId xmlns:p14="http://schemas.microsoft.com/office/powerpoint/2010/main" val="39486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415D5-975D-AAB4-61E3-8C9E34FEE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64F2A-E44E-4565-7BE3-523A659D33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80E6984-A62A-9228-E4A6-3370605E1658}"/>
              </a:ext>
            </a:extLst>
          </p:cNvPr>
          <p:cNvSpPr>
            <a:spLocks noGrp="1"/>
          </p:cNvSpPr>
          <p:nvPr>
            <p:ph type="body" idx="1"/>
          </p:nvPr>
        </p:nvSpPr>
        <p:spPr/>
        <p:txBody>
          <a:bodyPr/>
          <a:lstStyle/>
          <a:p>
            <a:r>
              <a:t>SUGGESTED TIME: 1 min  ·  1:30 - 1:31</a:t>
            </a:r>
          </a:p>
          <a:p/>
          <a:p>
            <a:r>
              <a:t>PURPOSE</a:t>
            </a:r>
          </a:p>
          <a:p>
            <a:r>
              <a:t>Open the partnership session and connect it to what families have noticed at home.</a:t>
            </a:r>
          </a:p>
          <a:p/>
          <a:p>
            <a:r>
              <a:t>WHAT TO DO</a:t>
            </a:r>
          </a:p>
          <a:p>
            <a:r>
              <a:t>1. Name the shift from what happens at home to how home and school can understand and act together.</a:t>
            </a:r>
          </a:p>
          <a:p>
            <a:r>
              <a:t>2. Ask participants to keep in mind one thing they noticed at home in Session 4 that school might need to know.</a:t>
            </a:r>
          </a:p>
          <a:p>
            <a:r>
              <a:t>3. Keep your young person at the centre of the conversation, and as a partner in it.</a:t>
            </a:r>
          </a:p>
          <a:p>
            <a:r>
              <a:t>4. Acknowledge that participants will bring very different school experiences, some helpful and some difficult.</a:t>
            </a:r>
          </a:p>
          <a:p>
            <a:r>
              <a:t>5. Remind the room that sharing is voluntary, and that schools and staff are not named in the whole group.</a:t>
            </a:r>
          </a:p>
          <a:p/>
          <a:p>
            <a:r>
              <a:t>KEY MESSAGES</a:t>
            </a:r>
          </a:p>
          <a:p>
            <a:r>
              <a:t>• Partnership is part of understanding and supporting your young person from the start.</a:t>
            </a:r>
          </a:p>
          <a:p>
            <a:r>
              <a:t>• Your young person, your family and the school may each hold different parts of the picture.</a:t>
            </a:r>
          </a:p>
          <a:p/>
          <a:p>
            <a:r>
              <a:t>KEEP IN MIND</a:t>
            </a:r>
          </a:p>
          <a:p>
            <a:r>
              <a:t>• Some families are in a very hard place with their school right now. Acknowledge this without inviting detailed accounts in the whole group.</a:t>
            </a:r>
          </a:p>
          <a:p/>
          <a:p>
            <a:r>
              <a:t>THREAD</a:t>
            </a:r>
          </a:p>
          <a:p>
            <a:r>
              <a:t>Picks up what participants noticed at home in Session 4 (Home and Community).</a:t>
            </a:r>
          </a:p>
        </p:txBody>
      </p:sp>
    </p:spTree>
    <p:extLst>
      <p:ext uri="{BB962C8B-B14F-4D97-AF65-F5344CB8AC3E}">
        <p14:creationId xmlns:p14="http://schemas.microsoft.com/office/powerpoint/2010/main" val="235271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0514-B7A9-244F-E9C3-6641E7CE1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229B0-DEB4-33F4-23E2-C94EB8AF4F3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24A3766-8288-AB86-A0F3-6B3E19660DC1}"/>
              </a:ext>
            </a:extLst>
          </p:cNvPr>
          <p:cNvSpPr>
            <a:spLocks noGrp="1"/>
          </p:cNvSpPr>
          <p:nvPr>
            <p:ph type="body" idx="1"/>
          </p:nvPr>
        </p:nvSpPr>
        <p:spPr/>
        <p:txBody>
          <a:bodyPr/>
          <a:lstStyle/>
          <a:p>
            <a:r>
              <a:t>SUGGESTED TIME: 2 min  ·  1:31 - 1:33</a:t>
            </a:r>
          </a:p>
          <a:p/>
          <a:p>
            <a:r>
              <a:t>PURPOSE</a:t>
            </a:r>
          </a:p>
          <a:p>
            <a:r>
              <a:t>Show where the partnerships around a young person intersect, with the young person at the centre of every one.</a:t>
            </a:r>
          </a:p>
          <a:p/>
          <a:p>
            <a:r>
              <a:t>WHAT TO DO</a:t>
            </a:r>
          </a:p>
          <a:p>
            <a:r>
              <a:t>1. Introduce the diagram: family, school staff and support staff, with your young person at the centre.</a:t>
            </a:r>
          </a:p>
          <a:p>
            <a:r>
              <a:t>2. Explain that every partner brings different knowledge and a different relationship with your young person and with each other.</a:t>
            </a:r>
          </a:p>
          <a:p>
            <a:r>
              <a:t>3. Ask the group: What is the goal of these intersecting partnerships?</a:t>
            </a:r>
          </a:p>
          <a:p>
            <a:r>
              <a:t>4. Steer the discussion so the point is made that the young person is at the centre of every partnership.</a:t>
            </a:r>
          </a:p>
          <a:p>
            <a:r>
              <a:t>5. Ask who else might be part of the picture for their young person, such as a therapist, a tutor, a grandparent or an employer, and how the young person's own views can be included.</a:t>
            </a:r>
          </a:p>
          <a:p/>
          <a:p>
            <a:r>
              <a:t>YOU MIGHT SAY</a:t>
            </a:r>
          </a:p>
          <a:p>
            <a:r>
              <a:t>What is the goal of these intersecting partnerships?</a:t>
            </a:r>
          </a:p>
          <a:p/>
          <a:p>
            <a:r>
              <a:t>KEY MESSAGES</a:t>
            </a:r>
          </a:p>
          <a:p>
            <a:r>
              <a:t>• Positive partnership keeps your young person at the centre.</a:t>
            </a:r>
          </a:p>
          <a:p>
            <a:r>
              <a:t>• No single person holds the complete picture.</a:t>
            </a:r>
          </a:p>
          <a:p>
            <a:r>
              <a:t>• Parents and carers bring knowledge of their young person that no one else has.</a:t>
            </a:r>
          </a:p>
          <a:p/>
          <a:p>
            <a:r>
              <a:t>KEEP IN MIND</a:t>
            </a:r>
          </a:p>
          <a:p>
            <a:r>
              <a:t>• Use the diagram as a discussion prompt rather than a complete definition.</a:t>
            </a:r>
          </a:p>
          <a:p/>
          <a:p>
            <a:r>
              <a:t>THREAD</a:t>
            </a:r>
          </a:p>
          <a:p>
            <a:r>
              <a:t>Draws on 'You are the expert on your young person' from Session 1.</a:t>
            </a:r>
          </a:p>
        </p:txBody>
      </p:sp>
    </p:spTree>
    <p:extLst>
      <p:ext uri="{BB962C8B-B14F-4D97-AF65-F5344CB8AC3E}">
        <p14:creationId xmlns:p14="http://schemas.microsoft.com/office/powerpoint/2010/main" val="3560356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CE5DD-51EB-13D7-5DF1-F889E88BD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74F24-86BD-4576-581B-BC41153FEE9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643188E-3CDD-D9D9-6BC4-F2EC317559F4}"/>
              </a:ext>
            </a:extLst>
          </p:cNvPr>
          <p:cNvSpPr>
            <a:spLocks noGrp="1"/>
          </p:cNvSpPr>
          <p:nvPr>
            <p:ph type="body" idx="1"/>
          </p:nvPr>
        </p:nvSpPr>
        <p:spPr/>
        <p:txBody>
          <a:bodyPr/>
          <a:lstStyle/>
          <a:p>
            <a:r>
              <a:t>SUGGESTED TIME: 2 min  ·  1:33 - 1:35</a:t>
            </a:r>
          </a:p>
          <a:p/>
          <a:p>
            <a:r>
              <a:t>PURPOSE</a:t>
            </a:r>
          </a:p>
          <a:p>
            <a:r>
              <a:t>Use the Family-School Partnerships Framework principles to show what families can expect a partnership to look like.</a:t>
            </a:r>
          </a:p>
          <a:p/>
          <a:p>
            <a:r>
              <a:t>WHAT TO DO</a:t>
            </a:r>
          </a:p>
          <a:p>
            <a:r>
              <a:t>1. Walk through the six Framework principles briefly.</a:t>
            </a:r>
          </a:p>
          <a:p>
            <a:r>
              <a:t>2. Draw attention to the first principle: parents and families are the first and continuing educators of their children.</a:t>
            </a:r>
          </a:p>
          <a:p>
            <a:r>
              <a:t>3. Position family knowledge and school knowledge as different, useful perspectives.</a:t>
            </a:r>
          </a:p>
          <a:p>
            <a:r>
              <a:t>4. Name what partnership looks like in practice: a shared purpose, respectful listening, your young person's voice, clear information, and agreed next steps with follow-up.</a:t>
            </a:r>
          </a:p>
          <a:p/>
          <a:p>
            <a:r>
              <a:t>KEY MESSAGES</a:t>
            </a:r>
          </a:p>
          <a:p>
            <a:r>
              <a:t>• Your knowledge of your young person and the school's knowledge are both needed from the beginning.</a:t>
            </a:r>
          </a:p>
          <a:p>
            <a:r>
              <a:t>• Listening, clarity and shared next steps are things you can look for in practice.</a:t>
            </a:r>
          </a:p>
          <a:p/>
          <a:p>
            <a:r>
              <a:t>KEEP IN MIND</a:t>
            </a:r>
          </a:p>
          <a:p>
            <a:r>
              <a:t>• Avoid implying that agreement is needed before listening or respect are possible.</a:t>
            </a:r>
          </a:p>
          <a:p/>
          <a:p>
            <a:r>
              <a:t>RESOURCES</a:t>
            </a:r>
          </a:p>
          <a:p>
            <a:r>
              <a:t>Family-School Partnerships Framework - Department of Education, Australian Government - https://www.education.gov.au/supporting-family-school-community-partnerships-learning/family-school-partnerships/family-school-partnerships-framework</a:t>
            </a:r>
          </a:p>
        </p:txBody>
      </p:sp>
    </p:spTree>
    <p:extLst>
      <p:ext uri="{BB962C8B-B14F-4D97-AF65-F5344CB8AC3E}">
        <p14:creationId xmlns:p14="http://schemas.microsoft.com/office/powerpoint/2010/main" val="771131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3 min  ·  1:35 - 1:38</a:t>
            </a:r>
          </a:p>
          <a:p/>
          <a:p>
            <a:r>
              <a:t>PURPOSE</a:t>
            </a:r>
          </a:p>
          <a:p>
            <a:r>
              <a:t>Name the collaboration principles that strong partnerships share, whoever is at the table.</a:t>
            </a:r>
          </a:p>
          <a:p/>
          <a:p>
            <a:r>
              <a:t>WHAT TO DO</a:t>
            </a:r>
          </a:p>
          <a:p>
            <a:r>
              <a:t>1. Introduce why collaboration matters: in secondary school there are many teachers and staff, and many points where home and school need to work together.</a:t>
            </a:r>
          </a:p>
          <a:p>
            <a:r>
              <a:t>2. Explain that the key collaboration principles are the same across every partnership around your young person.</a:t>
            </a:r>
          </a:p>
          <a:p>
            <a:r>
              <a:t>3. Ask the group: What are some of the key principles for effective collaboration?</a:t>
            </a:r>
          </a:p>
          <a:p>
            <a:r>
              <a:t>4. Build the discussion to cover: shared goals, shared values, mutual trust and respect, consulting on decision-making, seeing other perspectives, inviting curiosity, centring your young person's voice and assuming good intent.</a:t>
            </a:r>
          </a:p>
          <a:p>
            <a:r>
              <a:t>5. Once the room has contributed, point to the list on the slide and pick up anything not yet mentioned.</a:t>
            </a:r>
          </a:p>
          <a:p/>
          <a:p>
            <a:r>
              <a:t>YOU MIGHT SAY</a:t>
            </a:r>
          </a:p>
          <a:p>
            <a:r>
              <a:t>What are some of the key principles for effective collaboration?</a:t>
            </a:r>
          </a:p>
          <a:p>
            <a:r>
              <a:t>How could we work together so school goes well for my young person?</a:t>
            </a:r>
          </a:p>
          <a:p/>
          <a:p>
            <a:r>
              <a:t>KEY MESSAGES</a:t>
            </a:r>
          </a:p>
          <a:p>
            <a:r>
              <a:t>• The same principles apply in every partnership around your young person.</a:t>
            </a:r>
          </a:p>
          <a:p>
            <a:r>
              <a:t>• Starting from what you both want for your young person, and staying curious, can help even when a conversation is hard.</a:t>
            </a:r>
          </a:p>
          <a:p/>
          <a:p>
            <a:r>
              <a:t>KEEP IN MIND</a:t>
            </a:r>
          </a:p>
          <a:p>
            <a:r>
              <a:t>• 'Assume good intent' can be hard to hear for families who have had poor experiences. Acknowledge that trust is built on both sides and is not the family's job alone. Where trust has been damaged, it may need rebuilding over time, and starting from what you both want for your young person can be an easier first step.</a:t>
            </a:r>
          </a:p>
          <a:p/>
          <a:p>
            <a:r>
              <a:t>BACKGROUND</a:t>
            </a:r>
          </a:p>
          <a:p>
            <a:r>
              <a:t>This slide was added by the team because it works well with all parties and helps shift perspectives.</a:t>
            </a:r>
          </a:p>
        </p:txBody>
      </p:sp>
    </p:spTree>
    <p:extLst>
      <p:ext uri="{BB962C8B-B14F-4D97-AF65-F5344CB8AC3E}">
        <p14:creationId xmlns:p14="http://schemas.microsoft.com/office/powerpoint/2010/main" val="125909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  ·  1:38 - 1:40</a:t>
            </a:r>
          </a:p>
          <a:p/>
          <a:p>
            <a:r>
              <a:t>PURPOSE</a:t>
            </a:r>
          </a:p>
          <a:p>
            <a:r>
              <a:t>Help participants notice how agendas, language, authority and decision-making can shape a school conversation.</a:t>
            </a:r>
          </a:p>
          <a:p/>
          <a:p>
            <a:r>
              <a:t>WHAT TO DO</a:t>
            </a:r>
          </a:p>
          <a:p>
            <a:r>
              <a:t>1. Introduce the seesaw: school, home and your young person.</a:t>
            </a:r>
          </a:p>
          <a:p>
            <a:r>
              <a:t>2. Name where power can sit: socio-economic status, historical and cultural experiences of education, speaking English or another language, how school works (teaching approaches and school systems), and how important school is seen to be.</a:t>
            </a:r>
          </a:p>
          <a:p>
            <a:r>
              <a:t>3. Ask the power questions below to look at how meetings work, not to blame anyone.</a:t>
            </a:r>
          </a:p>
          <a:p>
            <a:r>
              <a:t>4. Invite participants to think about where school language, timing or process has made it harder for them to take part.</a:t>
            </a:r>
          </a:p>
          <a:p/>
          <a:p>
            <a:r>
              <a:t>YOU MIGHT SAY</a:t>
            </a:r>
          </a:p>
          <a:p>
            <a:r>
              <a:t>Who sets the agenda?</a:t>
            </a:r>
          </a:p>
          <a:p>
            <a:r>
              <a:t>Whose knowledge is heard?</a:t>
            </a:r>
          </a:p>
          <a:p>
            <a:r>
              <a:t>Who can make decisions?</a:t>
            </a:r>
          </a:p>
          <a:p>
            <a:r>
              <a:t>Is your young person included in a way that works for them?</a:t>
            </a:r>
          </a:p>
          <a:p>
            <a:r>
              <a:t>What could change about the process?</a:t>
            </a:r>
          </a:p>
          <a:p/>
          <a:p>
            <a:r>
              <a:t>KEY MESSAGES</a:t>
            </a:r>
          </a:p>
          <a:p>
            <a:r>
              <a:t>• Power sits in meeting structures, language and decision pathways, as well as in people.</a:t>
            </a:r>
          </a:p>
          <a:p>
            <a:r>
              <a:t>• Naming an imbalance can help you plan for a more balanced conversation.</a:t>
            </a:r>
          </a:p>
          <a:p/>
          <a:p>
            <a:r>
              <a:t>KEEP IN MIND</a:t>
            </a:r>
          </a:p>
          <a:p>
            <a:r>
              <a:t>• Keep sharing voluntary and avoid detailed complaints about identifiable schools or staff in the whole group.</a:t>
            </a:r>
          </a:p>
        </p:txBody>
      </p:sp>
      <p:sp>
        <p:nvSpPr>
          <p:cNvPr id="5" name="Date Placeholder 4"/>
          <p:cNvSpPr>
            <a:spLocks noGrp="1"/>
          </p:cNvSpPr>
          <p:nvPr>
            <p:ph type="dt" idx="11"/>
          </p:nvPr>
        </p:nvSpPr>
        <p:spPr/>
        <p:txBody>
          <a:bodyPr/>
          <a:lstStyle/>
          <a:p>
            <a:endParaRPr lang="en-AU"/>
          </a:p>
        </p:txBody>
      </p:sp>
    </p:spTree>
    <p:extLst>
      <p:ext uri="{BB962C8B-B14F-4D97-AF65-F5344CB8AC3E}">
        <p14:creationId xmlns:p14="http://schemas.microsoft.com/office/powerpoint/2010/main" val="3979636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6 min  ·  1:40 - 1:46  ·  Workbook - Power dynamics</a:t>
            </a:r>
          </a:p>
          <a:p/>
          <a:p>
            <a:r>
              <a:t>PURPOSE</a:t>
            </a:r>
          </a:p>
          <a:p>
            <a:r>
              <a:t>Help participants reflect on real and perceived power imbalances in the home-school relationship, and look for ways to address them.</a:t>
            </a:r>
          </a:p>
          <a:p/>
          <a:p>
            <a:r>
              <a:t>WHAT TO DO</a:t>
            </a:r>
          </a:p>
          <a:p>
            <a:r>
              <a:t>1. Make sure every participant has sticky notes and a pen.</a:t>
            </a:r>
          </a:p>
          <a:p>
            <a:r>
              <a:t>2. Direct participants to the three instructions on the slide.</a:t>
            </a:r>
          </a:p>
          <a:p>
            <a:r>
              <a:t>3. Choose a sharing option that suits the room (see steps).</a:t>
            </a:r>
          </a:p>
          <a:p>
            <a:r>
              <a:t>4. Support tables to look for solutions rather than place blame.</a:t>
            </a:r>
          </a:p>
          <a:p>
            <a:r>
              <a:t>5. Take feedback from a few participants at the end.</a:t>
            </a:r>
          </a:p>
          <a:p/>
          <a:p>
            <a:r>
              <a:t>KEY MESSAGES</a:t>
            </a:r>
          </a:p>
          <a:p>
            <a:r>
              <a:t>• Power can be structural, historical, cultural, conscious and unconscious.</a:t>
            </a:r>
          </a:p>
          <a:p>
            <a:r>
              <a:t>• Status can be felt as an imbalance of power, regardless of anyone's intent.</a:t>
            </a:r>
          </a:p>
          <a:p/>
          <a:p>
            <a:r>
              <a:t>ACTIVITY: Sticky note reflection  ·  table groups  ·  6 minutes</a:t>
            </a:r>
          </a:p>
          <a:p>
            <a:r>
              <a:t>Prompt: Where do power imbalances sit in the home-school relationship, and how could they be addressed?</a:t>
            </a:r>
          </a:p>
          <a:p>
            <a:r>
              <a:t>1. On one sticky note, write an example of an imbalance in power dynamics from a home perspective.</a:t>
            </a:r>
          </a:p>
          <a:p>
            <a:r>
              <a:t>2. On a second, write an example from a school perspective.</a:t>
            </a:r>
          </a:p>
          <a:p>
            <a:r>
              <a:t>3. On a third, write how you could address these imbalances.</a:t>
            </a:r>
          </a:p>
          <a:p>
            <a:r>
              <a:t>4. Option 1: share your notes with your table.</a:t>
            </a:r>
          </a:p>
          <a:p>
            <a:r>
              <a:t>5. Option 2: add your notes to the butcher's paper on the wall under Home, School and Solutions.</a:t>
            </a:r>
          </a:p>
          <a:p>
            <a:r>
              <a:t>Bring the room back:</a:t>
            </a:r>
          </a:p>
          <a:p>
            <a:r>
              <a:t>• Who sets the agenda?</a:t>
            </a:r>
          </a:p>
          <a:p>
            <a:r>
              <a:t>• Whose knowledge is heard?</a:t>
            </a:r>
          </a:p>
          <a:p>
            <a:r>
              <a:t>• Who can make decisions?</a:t>
            </a:r>
          </a:p>
          <a:p>
            <a:r>
              <a:t>• What could change about the process?</a:t>
            </a:r>
          </a:p>
          <a:p>
            <a:r>
              <a:t>Close: Ask participants to keep one idea from the Solutions column for their conversation plan on slide 15.</a:t>
            </a:r>
          </a:p>
          <a:p/>
          <a:p>
            <a:r>
              <a:t>KEEP IN MIND</a:t>
            </a:r>
          </a:p>
          <a:p>
            <a:r>
              <a:t>• This may be painful for some participants who have felt powerless in dealings with school. Acknowledge this, and guide the group towards solutions rather than blame.</a:t>
            </a:r>
          </a:p>
          <a:p>
            <a:r>
              <a:t>• Asking for a school perspective is not asking families to excuse poor practice. It helps them plan a conversation that is more likely to work.</a:t>
            </a:r>
          </a:p>
          <a:p/>
          <a:p>
            <a:r>
              <a:t>BACKGROUND</a:t>
            </a:r>
          </a:p>
          <a:p>
            <a:r>
              <a:t>Educators work inside the culture of education, including shared acronyms such as NAPLAN, NCCD and IEP, which families may not know. Some people naturally give teachers higher status, which can be a cultural or personal attitude. External providers and professionals can also affect the power dynamic around an Autistic young person.</a:t>
            </a:r>
          </a:p>
          <a:p/>
          <a:p>
            <a:r>
              <a:t>THREAD</a:t>
            </a:r>
          </a:p>
          <a:p>
            <a:r>
              <a:t>The solution chosen here carries into the conversation plan on slide 15 and the Session 6 take-home actions.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4 min  ·  1:46 - 1:50  ·  Workbook - Student voice</a:t>
            </a:r>
          </a:p>
          <a:p/>
          <a:p>
            <a:r>
              <a:t>PURPOSE</a:t>
            </a:r>
          </a:p>
          <a:p>
            <a:r>
              <a:t>Show what can happen when a young person is not listened to or consulted, and why your young person's voice belongs in decisions about them.</a:t>
            </a:r>
          </a:p>
          <a:p/>
          <a:p>
            <a:r>
              <a:t>WHAT TO DO</a:t>
            </a:r>
          </a:p>
          <a:p>
            <a:r>
              <a:t>1. Introduce the video as an example of a young person who is not listened to or consulted at school.</a:t>
            </a:r>
          </a:p>
          <a:p>
            <a:r>
              <a:t>2. Ask participants, while watching, to pay attention to what decisions were made and who made them.</a:t>
            </a:r>
          </a:p>
          <a:p>
            <a:r>
              <a:t>3. Play the video.</a:t>
            </a:r>
          </a:p>
          <a:p>
            <a:r>
              <a:t>4. Ask the group: What impact did those decisions have on Adon?</a:t>
            </a:r>
          </a:p>
          <a:p>
            <a:r>
              <a:t>5. Connect to participants' own young people: how are their views asked for and heard, at home and at school?</a:t>
            </a:r>
          </a:p>
          <a:p/>
          <a:p>
            <a:r>
              <a:t>YOU MIGHT SAY</a:t>
            </a:r>
          </a:p>
          <a:p>
            <a:r>
              <a:t>While watching, pay attention to what decisions were made and who made them.</a:t>
            </a:r>
          </a:p>
          <a:p>
            <a:r>
              <a:t>What impact did those decisions have on Adon?</a:t>
            </a:r>
          </a:p>
          <a:p/>
          <a:p>
            <a:r>
              <a:t>KEY MESSAGES</a:t>
            </a:r>
          </a:p>
          <a:p>
            <a:r>
              <a:t>• Young people should have a say in decisions about them, in the way they communicate.</a:t>
            </a:r>
          </a:p>
          <a:p>
            <a:r>
              <a:t>• Ask your young person in a way that works for them: What helps? What's hard? What should your teachers know?</a:t>
            </a:r>
          </a:p>
          <a:p>
            <a:r>
              <a:t>• Their views can go to school in their own words, in writing, or through a trusted adult.</a:t>
            </a:r>
          </a:p>
          <a:p>
            <a:r>
              <a:t>• This builds self-advocacy, which matters more and more through secondary school.</a:t>
            </a:r>
          </a:p>
          <a:p/>
          <a:p>
            <a:r>
              <a:t>KEEP IN MIND</a:t>
            </a:r>
          </a:p>
          <a:p>
            <a:r>
              <a:t>• Some parents may recognise their own young person's experience in the video. Allow a moment before moving on.</a:t>
            </a:r>
          </a:p>
          <a:p/>
          <a:p>
            <a:r>
              <a:t>THREAD</a:t>
            </a:r>
          </a:p>
          <a:p>
            <a:r>
              <a:t>Links to multimodal communication in Session 3 and leads to Adolescents in their own meetings on slide 10.</a:t>
            </a:r>
          </a:p>
        </p:txBody>
      </p:sp>
    </p:spTree>
    <p:extLst>
      <p:ext uri="{BB962C8B-B14F-4D97-AF65-F5344CB8AC3E}">
        <p14:creationId xmlns:p14="http://schemas.microsoft.com/office/powerpoint/2010/main" val="1841038267"/>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2:01 - 2:04</a:t>
            </a:r>
          </a:p>
          <a:p/>
          <a:p>
            <a:r>
              <a:t>PURPOSE</a:t>
            </a:r>
          </a:p>
          <a:p>
            <a:r>
              <a:t>Encourage families to start thinking about the senior years and life after school early, with their young person included.</a:t>
            </a:r>
          </a:p>
          <a:p/>
          <a:p>
            <a:r>
              <a:t>WHAT TO DO</a:t>
            </a:r>
          </a:p>
          <a:p>
            <a:r>
              <a:t>1. Walk through the three ideas: senior years, after school, who can help.</a:t>
            </a:r>
          </a:p>
          <a:p>
            <a:r>
              <a:t>2. Explain that subject choices and pathways shape what comes next, so it helps to start talking in the middle years.</a:t>
            </a:r>
          </a:p>
          <a:p>
            <a:r>
              <a:t>3. Name the range of options after school: further study, training, work and other options. Make sure every young person is included, whatever their support needs.</a:t>
            </a:r>
          </a:p>
          <a:p>
            <a:r>
              <a:t>4. Point out that a young person's interests can point the way.</a:t>
            </a:r>
          </a:p>
          <a:p>
            <a:r>
              <a:t>5. Name who can help: careers staff, learning support, and disability and employment services.</a:t>
            </a:r>
          </a:p>
          <a:p/>
          <a:p>
            <a:r>
              <a:t>YOU MIGHT SAY</a:t>
            </a:r>
          </a:p>
          <a:p>
            <a:r>
              <a:t>You don't need to have it all worked out. Starting early just means more options stay open, and your young person has more time to work out what they want.</a:t>
            </a:r>
          </a:p>
          <a:p/>
          <a:p>
            <a:r>
              <a:t>KEY MESSAGES</a:t>
            </a:r>
          </a:p>
          <a:p>
            <a:r>
              <a:t>• Start talking about the senior years in the middle years.</a:t>
            </a:r>
          </a:p>
          <a:p>
            <a:r>
              <a:t>• Include your young person in every step.</a:t>
            </a:r>
          </a:p>
          <a:p>
            <a:r>
              <a:t>• Starting early helps keep options open.</a:t>
            </a:r>
          </a:p>
          <a:p/>
          <a:p>
            <a:r>
              <a:t>KEEP IN MIND</a:t>
            </a:r>
          </a:p>
          <a:p>
            <a:r>
              <a:t>• This topic can bring pressure or worry. Keep it gentle and focused on keeping options open.</a:t>
            </a:r>
          </a:p>
          <a:p>
            <a:r>
              <a:t>• Families of young people with higher support needs should hear their options named with equal respect, including supported employment and community participation.</a:t>
            </a:r>
          </a:p>
          <a:p>
            <a:r>
              <a:t>• Keep to general principles. State-specific pathways and NDIS matters are for the participant pack or specialist services.</a:t>
            </a:r>
          </a:p>
          <a:p/>
          <a:p>
            <a:r>
              <a:t>THREAD</a:t>
            </a:r>
          </a:p>
          <a:p>
            <a:r>
              <a:t>Interests from Session 4 can point towards study and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3 min  ·  1:50 - 1:53  ·  Workbook - Consultation checklist</a:t>
            </a:r>
          </a:p>
          <a:p/>
          <a:p>
            <a:r>
              <a:t>PURPOSE</a:t>
            </a:r>
          </a:p>
          <a:p>
            <a:r>
              <a:t>Show families what useful consultation includes, so they can recognise it and ask for it.</a:t>
            </a:r>
          </a:p>
          <a:p/>
          <a:p>
            <a:r>
              <a:t>WHAT TO DO</a:t>
            </a:r>
          </a:p>
          <a:p>
            <a:r>
              <a:t>1. Walk through what useful consultation includes.</a:t>
            </a:r>
          </a:p>
          <a:p>
            <a:r>
              <a:t>2. Frame the list as a check families can use before and after a school meeting.</a:t>
            </a:r>
          </a:p>
          <a:p>
            <a:r>
              <a:t>3. Make the point: ask, listen, and follow up.</a:t>
            </a:r>
          </a:p>
          <a:p>
            <a:r>
              <a:t>4. Link back to Your rights at school from Session 1: the school must consult your young person, or you on their behalf. This list helps make that consultation useful.</a:t>
            </a:r>
          </a:p>
          <a:p/>
          <a:p>
            <a:r>
              <a:t>KEY MESSAGES</a:t>
            </a:r>
          </a:p>
          <a:p>
            <a:r>
              <a:t>• Ask, listen, and follow up.</a:t>
            </a:r>
          </a:p>
          <a:p>
            <a:r>
              <a:t>• Useful consultation includes an agreed action, who is responsible and when it will be followed up.</a:t>
            </a:r>
          </a:p>
          <a:p/>
          <a:p>
            <a:r>
              <a:t>THREAD</a:t>
            </a:r>
          </a:p>
          <a:p>
            <a:r>
              <a:t>Links back to Your rights at school in Session 1: under the Disability Standards for Education, consultation is a requirement.</a:t>
            </a:r>
          </a:p>
          <a:p/>
          <a:p>
            <a:r>
              <a:t>RESOURCES</a:t>
            </a:r>
          </a:p>
          <a:p>
            <a:r>
              <a:t>Australian Education Research Organisation (2024). Engaging with families of children with disability: Schools practice guide - https://www.edresearch.edu.au/guides-resources/practice-guides/engaging-families-children-disability-schools-guide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1:53 - 1:55  ·  Workbook - Who to contact for what</a:t>
            </a:r>
          </a:p>
          <a:p/>
          <a:p>
            <a:r>
              <a:t>PURPOSE</a:t>
            </a:r>
          </a:p>
          <a:p>
            <a:r>
              <a:t>Help families find their way around a secondary school: who to contact about what, and how.</a:t>
            </a:r>
          </a:p>
          <a:p/>
          <a:p>
            <a:r>
              <a:t>WHAT TO DO</a:t>
            </a:r>
          </a:p>
          <a:p>
            <a:r>
              <a:t>1. Read the opening line: secondary schools have more people and more systems.</a:t>
            </a:r>
          </a:p>
          <a:p>
            <a:r>
              <a:t>2. Walk through the four areas: day to day, learning and adjustments, wellbeing, information.</a:t>
            </a:r>
          </a:p>
          <a:p>
            <a:r>
              <a:t>3. Explain that the names of roles differ between schools. Families can ask the school who does what.</a:t>
            </a:r>
          </a:p>
          <a:p>
            <a:r>
              <a:t>4. Encourage families to ask for one main contact person, and how best to reach them.</a:t>
            </a:r>
          </a:p>
          <a:p>
            <a:r>
              <a:t>5. Suggest that learning the school portal or app together with their young person can also be a step towards independence.</a:t>
            </a:r>
          </a:p>
          <a:p/>
          <a:p>
            <a:r>
              <a:t>YOU MIGHT SAY</a:t>
            </a:r>
          </a:p>
          <a:p>
            <a:r>
              <a:t>In primary school there was often one teacher who knew them well. In secondary school there might be six or more, so it helps to build one strong relationship and go through that person.</a:t>
            </a:r>
          </a:p>
          <a:p/>
          <a:p>
            <a:r>
              <a:t>KEY MESSAGES</a:t>
            </a:r>
          </a:p>
          <a:p>
            <a:r>
              <a:t>• It helps to know who does what.</a:t>
            </a:r>
          </a:p>
          <a:p>
            <a:r>
              <a:t>• Ask for one main contact person, and how best to reach them.</a:t>
            </a:r>
          </a:p>
          <a:p>
            <a:r>
              <a:t>• A short written follow-up ('As we discussed...') helps everyone remember what was agreed.</a:t>
            </a:r>
          </a:p>
          <a:p/>
          <a:p>
            <a:r>
              <a:t>KEEP IN MIND</a:t>
            </a:r>
          </a:p>
          <a:p>
            <a:r>
              <a:t>• Some schools do not have a clear coordinator or contact role. Suggest starting with the staff member who knows and understands their young person best.</a:t>
            </a:r>
          </a:p>
          <a:p>
            <a:r>
              <a:t>• Avoid naming or comparing particular schools.</a:t>
            </a:r>
          </a:p>
          <a:p/>
          <a:p>
            <a:r>
              <a:t>THREAD</a:t>
            </a:r>
          </a:p>
          <a:p>
            <a:r>
              <a:t>Links to homework and assessment in Session 4: if the load is too much, this slide shows who to talk 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1 min  ·  1:58 - 1:59</a:t>
            </a:r>
          </a:p>
          <a:p/>
          <a:p>
            <a:r>
              <a:t>PURPOSE</a:t>
            </a:r>
          </a:p>
          <a:p>
            <a:r>
              <a:t>Show the Partnership tools and how families can use them to prepare for and follow up a school meeting.</a:t>
            </a:r>
          </a:p>
          <a:p/>
          <a:p>
            <a:r>
              <a:t>WHAT TO DO</a:t>
            </a:r>
          </a:p>
          <a:p>
            <a:r>
              <a:t>1. Show the Partnership tools and briefly explain how each one is used.</a:t>
            </a:r>
          </a:p>
          <a:p>
            <a:r>
              <a:t>2. Frame the tools as supports for consultation, not replacements for listening and your young person's voice.</a:t>
            </a:r>
          </a:p>
          <a:p/>
          <a:p>
            <a:r>
              <a:t>KEY MESSAGES</a:t>
            </a:r>
          </a:p>
          <a:p>
            <a:r>
              <a:t>• Tools can help a conversation, alongside listening and your young person's voice.</a:t>
            </a:r>
          </a:p>
        </p:txBody>
      </p:sp>
      <p:sp>
        <p:nvSpPr>
          <p:cNvPr id="4" name="Date Placeholder 3"/>
          <p:cNvSpPr>
            <a:spLocks noGrp="1"/>
          </p:cNvSpPr>
          <p:nvPr>
            <p:ph type="dt" idx="10"/>
          </p:nvPr>
        </p:nvSpPr>
        <p:spPr/>
        <p:txBody>
          <a:bodyPr/>
          <a:lstStyle/>
          <a:p>
            <a:endParaRPr lang="en-AU"/>
          </a:p>
        </p:txBody>
      </p:sp>
    </p:spTree>
    <p:extLst>
      <p:ext uri="{BB962C8B-B14F-4D97-AF65-F5344CB8AC3E}">
        <p14:creationId xmlns:p14="http://schemas.microsoft.com/office/powerpoint/2010/main" val="617367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1 min  ·  1:59 - 2:00</a:t>
            </a:r>
          </a:p>
          <a:p/>
          <a:p>
            <a:r>
              <a:t>PURPOSE</a:t>
            </a:r>
          </a:p>
          <a:p>
            <a:r>
              <a:t>Introduce the NCCD Meetings Tool Kit as a free resource that can make meetings about adjustments clearer.</a:t>
            </a:r>
          </a:p>
          <a:p/>
          <a:p>
            <a:r>
              <a:t>WHAT TO DO</a:t>
            </a:r>
          </a:p>
          <a:p>
            <a:r>
              <a:t>1. Explain that the Tool Kit helps make the meeting purpose, consultation process, possible adjustments, evidence and next steps clear.</a:t>
            </a:r>
          </a:p>
          <a:p>
            <a:r>
              <a:t>2. Explain that schools follow the processes used in their school or system, and families can ask who is responsible for what and how follow-up will happen.</a:t>
            </a:r>
          </a:p>
          <a:p>
            <a:r>
              <a:t>3. Point families to the Tool Kit on the NCCD website: https://www.nccd.edu.au/wider-support-materials/meetings-toolkit</a:t>
            </a:r>
          </a:p>
          <a:p/>
          <a:p>
            <a:r>
              <a:t>KEY MESSAGES</a:t>
            </a:r>
          </a:p>
          <a:p>
            <a:r>
              <a:t>• The Tool Kit can help families know what to expect before, during and after a meeting about adjustments.</a:t>
            </a:r>
          </a:p>
          <a:p/>
          <a:p>
            <a:r>
              <a:t>KEEP IN MIND</a:t>
            </a:r>
          </a:p>
          <a:p>
            <a:r>
              <a:t>• Do not explain NCCD in detail. If asked, talk about levels of adjustment and point to the official NCCD information.</a:t>
            </a:r>
          </a:p>
          <a:p/>
          <a:p>
            <a:r>
              <a:t>RESOURCES</a:t>
            </a:r>
          </a:p>
          <a:p>
            <a:r>
              <a:t>NCCD Meetings Tool Kit - https://www.nccd.edu.au/wider-support-materials/meetings-toolkit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  ·  2:00 - 2:01</a:t>
            </a:r>
          </a:p>
          <a:p/>
          <a:p>
            <a:r>
              <a:t>PURPOSE</a:t>
            </a:r>
          </a:p>
          <a:p>
            <a:r>
              <a:t>Point families to national helplines and support pathways, including youth mental health and crisis support.</a:t>
            </a:r>
          </a:p>
          <a:p/>
          <a:p>
            <a:r>
              <a:t>WHAT TO DO</a:t>
            </a:r>
          </a:p>
          <a:p>
            <a:r>
              <a:t>1. Briefly introduce Autism Connect (the national autism helpline), Disability Gateway and Carer Gateway.</a:t>
            </a:r>
          </a:p>
          <a:p>
            <a:r>
              <a:t>2. Note that Carer Gateway offers emotional, practical and financial support for carers.</a:t>
            </a:r>
          </a:p>
          <a:p>
            <a:r>
              <a:t>3. Point out the youth mental health and crisis support lines: Kids Helpline (1800 55 1800, ages 5-25, and parents), headspace (headspace.org.au, ages 12-25) and Lifeline (13 11 14).</a:t>
            </a:r>
          </a:p>
          <a:p>
            <a:r>
              <a:t>4. Leave the slide up so participants can note or photograph the numbers.</a:t>
            </a:r>
          </a:p>
          <a:p/>
          <a:p>
            <a:r>
              <a:t>KEY MESSAGES</a:t>
            </a:r>
          </a:p>
          <a:p>
            <a:r>
              <a:t>• Help is available beyond today, for your young person and for you.</a:t>
            </a:r>
          </a:p>
          <a:p/>
          <a:p>
            <a:r>
              <a:t>KEEP IN MIND</a:t>
            </a:r>
          </a:p>
          <a:p>
            <a:r>
              <a:t>• Check phone numbers and services are current before delivery.</a:t>
            </a:r>
          </a:p>
          <a:p/>
          <a:p>
            <a:r>
              <a:t>RESOURCES</a:t>
            </a:r>
          </a:p>
          <a:p>
            <a:r>
              <a:t>Disability Gateway - 1800 643 787</a:t>
            </a:r>
          </a:p>
          <a:p>
            <a:r>
              <a:t>Carer Gateway - 1800 422 737</a:t>
            </a:r>
          </a:p>
          <a:p>
            <a:r>
              <a:t>Autism Connect national autism helpline - contact details as shown on the slide</a:t>
            </a:r>
          </a:p>
          <a:p>
            <a:r>
              <a:t>Kids Helpline - 1800 55 1800 (ages 5-25, and parents)</a:t>
            </a:r>
          </a:p>
          <a:p>
            <a:r>
              <a:t>headspace - headspace.org.au (ages 12-25)</a:t>
            </a:r>
          </a:p>
          <a:p>
            <a:r>
              <a:t>Lifeline - 13 11 14</a:t>
            </a:r>
          </a:p>
        </p:txBody>
      </p:sp>
      <p:sp>
        <p:nvSpPr>
          <p:cNvPr id="4" name="Slide Number Placeholder 3"/>
          <p:cNvSpPr>
            <a:spLocks noGrp="1"/>
          </p:cNvSpPr>
          <p:nvPr>
            <p:ph type="sldNum" sz="quarter" idx="10"/>
          </p:nvPr>
        </p:nvSpPr>
        <p:spPr/>
        <p:txBody>
          <a:bodyPr/>
          <a:lstStyle/>
          <a:p>
            <a:pPr defTabSz="966338">
              <a:defRPr/>
            </a:pPr>
            <a:fld id="{548C6345-C4B0-4EAE-A3B4-FCAC51D578EF}" type="slidenum">
              <a:rPr lang="en-AU">
                <a:solidFill>
                  <a:prstClr val="black"/>
                </a:solidFill>
                <a:latin typeface="Calibri" panose="020F0502020204030204"/>
              </a:rPr>
              <a:pPr defTabSz="966338">
                <a:defRPr/>
              </a:pPr>
              <a:t>16</a:t>
            </a:fld>
            <a:endParaRPr lang="en-AU">
              <a:solidFill>
                <a:prstClr val="black"/>
              </a:solidFill>
              <a:latin typeface="Calibri" panose="020F0502020204030204"/>
            </a:endParaRPr>
          </a:p>
        </p:txBody>
      </p:sp>
    </p:spTree>
    <p:extLst>
      <p:ext uri="{BB962C8B-B14F-4D97-AF65-F5344CB8AC3E}">
        <p14:creationId xmlns:p14="http://schemas.microsoft.com/office/powerpoint/2010/main" val="1384576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6 min  ·  2:04 - 2:10  ·  Workbook - Prepare for a conversation with school</a:t>
            </a:r>
          </a:p>
          <a:p/>
          <a:p>
            <a:r>
              <a:t>PURPOSE</a:t>
            </a:r>
          </a:p>
          <a:p>
            <a:r>
              <a:t>Help each participant prepare for one purposeful conversation with school, to carry into the Session 6 take-home actions.</a:t>
            </a:r>
          </a:p>
          <a:p/>
          <a:p>
            <a:r>
              <a:t>WHAT TO DO</a:t>
            </a:r>
          </a:p>
          <a:p>
            <a:r>
              <a:t>1. Ask participants to think of a real or likely conversation with school.</a:t>
            </a:r>
          </a:p>
          <a:p>
            <a:r>
              <a:t>2. Invite them to work through the prompts on the slide privately.</a:t>
            </a:r>
          </a:p>
          <a:p>
            <a:r>
              <a:t>3. Encourage short notes rather than a full meeting plan.</a:t>
            </a:r>
          </a:p>
          <a:p>
            <a:r>
              <a:t>4. Ask participants to carry one idea from the power activity into their plan.</a:t>
            </a:r>
          </a:p>
          <a:p>
            <a:r>
              <a:t>5. Encourage participants to think about talking with their young person about the conversation before it happens.</a:t>
            </a:r>
          </a:p>
          <a:p>
            <a:r>
              <a:t>6. Keep sharing optional, particularly where the situation is sensitive.</a:t>
            </a:r>
          </a:p>
          <a:p/>
          <a:p>
            <a:r>
              <a:t>YOU MIGHT SAY</a:t>
            </a:r>
          </a:p>
          <a:p>
            <a:r>
              <a:t>Bring these notes to Session 6.</a:t>
            </a:r>
          </a:p>
          <a:p/>
          <a:p>
            <a:r>
              <a:t>KEY MESSAGES</a:t>
            </a:r>
          </a:p>
          <a:p>
            <a:r>
              <a:t>• Prepare for one purposeful conversation.</a:t>
            </a:r>
          </a:p>
          <a:p>
            <a:r>
              <a:t>• A small, specific next step is enough.</a:t>
            </a:r>
          </a:p>
          <a:p/>
          <a:p>
            <a:r>
              <a:t>ACTIVITY: Private planning  ·  on your own  ·  6 minutes</a:t>
            </a:r>
          </a:p>
          <a:p>
            <a:r>
              <a:t>Prompt: Prepare for one purposeful conversation.</a:t>
            </a:r>
          </a:p>
          <a:p>
            <a:r>
              <a:t>1. What needs to be understood?</a:t>
            </a:r>
          </a:p>
          <a:p>
            <a:r>
              <a:t>2. What question will open the conversation?</a:t>
            </a:r>
          </a:p>
          <a:p>
            <a:r>
              <a:t>3. How will your young person take part, or have their views included?</a:t>
            </a:r>
          </a:p>
          <a:p>
            <a:r>
              <a:t>4. What can be decided together?</a:t>
            </a:r>
          </a:p>
          <a:p>
            <a:r>
              <a:t>5. How and when will we follow up?</a:t>
            </a:r>
          </a:p>
          <a:p>
            <a:r>
              <a:t>Close: Ask participants to circle the question they will open with and keep these notes for Session 6.</a:t>
            </a:r>
          </a:p>
          <a:p/>
          <a:p>
            <a:r>
              <a:t>THREAD</a:t>
            </a:r>
          </a:p>
          <a:p>
            <a:r>
              <a:t>Feeds the second of the three small things in Session 6: one thing you would like school to know, understand or support, and the sentence you will open with.</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1:55 - 1:58</a:t>
            </a:r>
          </a:p>
          <a:p/>
          <a:p>
            <a:r>
              <a:t>PURPOSE</a:t>
            </a:r>
          </a:p>
          <a:p>
            <a:r>
              <a:t>Show how young people can move from being talked about, to taking part and, over time, leading their own meetings.</a:t>
            </a:r>
          </a:p>
          <a:p/>
          <a:p>
            <a:r>
              <a:t>WHAT TO DO</a:t>
            </a:r>
          </a:p>
          <a:p>
            <a:r>
              <a:t>1. Read the opening line: from being talked about, to taking part and, over time, leading.</a:t>
            </a:r>
          </a:p>
          <a:p>
            <a:r>
              <a:t>2. Walk through the four points: prepared and supported, taking more of a lead, speaking up for themselves, and their say in decisions about their own learning and support.</a:t>
            </a:r>
          </a:p>
          <a:p>
            <a:r>
              <a:t>3. Explain that taking part can happen in many ways: in person, in writing, or through a trusted adult.</a:t>
            </a:r>
          </a:p>
          <a:p>
            <a:r>
              <a:t>4. Suggest agreeing beforehand with their young person what they want said, what they will say themselves, and how they can signal that they need to leave.</a:t>
            </a:r>
          </a:p>
          <a:p>
            <a:r>
              <a:t>5. Read the closing line.</a:t>
            </a:r>
          </a:p>
          <a:p/>
          <a:p>
            <a:r>
              <a:t>YOU MIGHT SAY</a:t>
            </a:r>
          </a:p>
          <a:p>
            <a:r>
              <a:t>Preparation makes a big difference. Before the meeting, talk with your young person about what they want said, what they would like to say themselves, and what their signal is if they need a break.</a:t>
            </a:r>
          </a:p>
          <a:p/>
          <a:p>
            <a:r>
              <a:t>KEY MESSAGES</a:t>
            </a:r>
          </a:p>
          <a:p>
            <a:r>
              <a:t>• Where you can, help your young person be part of the conversation.</a:t>
            </a:r>
          </a:p>
          <a:p>
            <a:r>
              <a:t>• Taking part is prepared and supported, and can happen in their own way.</a:t>
            </a:r>
          </a:p>
          <a:p>
            <a:r>
              <a:t>• Speaking up for themselves is practice for senior school, work and life after school.</a:t>
            </a:r>
          </a:p>
          <a:p/>
          <a:p>
            <a:r>
              <a:t>KEEP IN MIND</a:t>
            </a:r>
          </a:p>
          <a:p>
            <a:r>
              <a:t>• This is not about making young people attend meetings. Taking part is gradual and chosen. If a young person does not want to attend, gather their views beforehand in a way that works for them.</a:t>
            </a:r>
          </a:p>
          <a:p>
            <a:r>
              <a:t>• Where a young person says no to a support, that view belongs in the meeting too.</a:t>
            </a:r>
          </a:p>
          <a:p/>
          <a:p>
            <a:r>
              <a:t>THREAD</a:t>
            </a:r>
          </a:p>
          <a:p>
            <a:r>
              <a:t>Builds on Student voice (slide 7) and Growing independence in Session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D28A-B3EE-B2F8-2D9F-E38956BB4C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91FFC2E-1ACE-62A5-4072-FDF6F0EA0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4599CF-C943-D7C4-7811-263721D4555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1EEF46FB-5BFF-6413-8DC9-C662D210F6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3AE1BB-D8CC-E9DD-8F6F-D88C38DE89A5}"/>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29591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3CB4-060A-C51F-2EC8-354B364A60F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3379BE2-E71C-D173-20F7-3DC235E13D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F0FBE1-DEF4-01E6-B192-F54120AB142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3D19024-81F6-B24D-2524-4A38F3C734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7EF9EC-1F2C-3CE9-DEFE-2FF7BA77C9D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3657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B6A3-2485-D4A0-889B-2A9272838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E0D3F2C-BD31-4AAE-2D0A-9FDF485296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1D3BE7-495A-45AB-B509-EF0F34943E9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40B1C35D-E99A-E291-987B-AF21274B258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0857903-8C9F-BACD-61B4-225B4ACBFE1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9313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A35-C5D0-A8D3-1ED0-DBF6C7038B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0B0E58A-4B8D-2F6C-6CED-E77C340B9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31D8A72-9F1F-7780-A02A-6480C7F09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5D4972C-A7FC-EEBF-EB80-07E12A45D2D0}"/>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B2E53512-D333-F27C-FA62-2D6D626AD1C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E326B4B-35FD-594C-461D-73FB077E727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14952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8FB18-6446-C345-2715-2FCD4BBD208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51CA7F-8671-00FB-2759-AE7473DA2F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92E17-C65A-E73A-04CA-7B10C867F4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12DC5BF-9F4A-A4A9-2DCD-D39C08A7E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20E987-78C7-89E8-B39B-214F53673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5BB3663-DCDB-9D47-2A05-8C8A1751BD1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8" name="Footer Placeholder 7">
            <a:extLst>
              <a:ext uri="{FF2B5EF4-FFF2-40B4-BE49-F238E27FC236}">
                <a16:creationId xmlns:a16="http://schemas.microsoft.com/office/drawing/2014/main" id="{9A1E0899-2FB9-D5F8-C7D9-6A64DF55DCD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1B0A265-38DC-25F3-63F7-264C7CBC5749}"/>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1963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0DD-9672-EA32-8499-5F359273C84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7A619D4-673B-7869-BDA8-90EF6AE1A4F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4" name="Footer Placeholder 3">
            <a:extLst>
              <a:ext uri="{FF2B5EF4-FFF2-40B4-BE49-F238E27FC236}">
                <a16:creationId xmlns:a16="http://schemas.microsoft.com/office/drawing/2014/main" id="{3DC3F31B-821F-4600-8E2D-5409A083DD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99563D0-06DF-DDC6-6DE6-F286B2AD439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9110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158A0-525F-DBD6-072B-A32480F33201}"/>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3" name="Footer Placeholder 2">
            <a:extLst>
              <a:ext uri="{FF2B5EF4-FFF2-40B4-BE49-F238E27FC236}">
                <a16:creationId xmlns:a16="http://schemas.microsoft.com/office/drawing/2014/main" id="{EC38CD13-2E9D-DA86-8592-84CB918BBA0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1326335-F22B-E001-C43D-596FB359436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793934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F21E-74D4-6662-046B-D00B43AFF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E6EBDC0-FB04-159F-A56E-FCD49D6E2A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4CC297-D38C-33F2-3923-309BA88C8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5D466-15C2-9CF9-49C4-908884E657CA}"/>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E51A267D-366B-4133-F6AE-178CB1C413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CE10DC-6374-4602-A4F6-08445FF5D48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83169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875E-4B02-5185-26A1-8AA35D458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A93C0B0-4CE7-414A-A922-9910F4AE4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A186429-E09E-E274-D9B2-B9FF7D73DC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BDFA4-C431-D3D2-E11D-6B0825CAC2E6}"/>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D68A784D-C53A-7D39-41EB-A5FAB54CAA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DF602B-2F43-D06E-EEA1-A5842078DF4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469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FF24-BA52-E356-2969-BBEC613C5B3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FE647FD-F15F-0F7E-6331-911A43B458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229ABCC-425E-F40B-430F-6DBE435D59C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6ADAE07-2F6D-543D-8ADD-06E28BD16A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E3D450-00E6-5570-3748-99DB1FFF86AE}"/>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07843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7934-68A4-5202-087B-135726E7E4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0513942-979E-AFC8-F6F0-1B745E88E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ADD712E-6F85-5F6F-2C74-2CEEBD8D63A8}"/>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8B04549D-D6FE-6A64-0BA2-1D595DEB18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DA3E06-3B8D-A569-B398-19316245599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3880623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10504356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2D69F-858A-1B9A-29B7-9C2FE4AA8D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8B2ED96-8E16-D26A-34FC-9612F0C05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4CBCBF3-792B-3F72-232C-3BB15CC787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B22C0ED6-9CA2-5575-50F9-C6F846B015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D4396C1-8D9B-39FF-FBFF-EAB2040EDB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FDF43-DACD-40EF-801D-14F8956C6332}" type="slidenum">
              <a:rPr lang="en-AU" smtClean="0"/>
              <a:t>‹#›</a:t>
            </a:fld>
            <a:endParaRPr lang="en-AU"/>
          </a:p>
        </p:txBody>
      </p:sp>
    </p:spTree>
    <p:extLst>
      <p:ext uri="{BB962C8B-B14F-4D97-AF65-F5344CB8AC3E}">
        <p14:creationId xmlns:p14="http://schemas.microsoft.com/office/powerpoint/2010/main" val="1684930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18/10/relationships/comments" Target="../comments/modernComment_346_3E00D4D8.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18/10/relationships/comments" Target="../comments/modernComment_34C_A86DA66C.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5.xml"/><Relationship Id="rId4" Type="http://schemas.openxmlformats.org/officeDocument/2006/relationships/image" Target="../media/image5.png"/><Relationship Id="rId5"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tags" Target="../tags/tag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slideLayout" Target="../slideLayouts/slideLayout12.xml"/><Relationship Id="rId5" Type="http://schemas.openxmlformats.org/officeDocument/2006/relationships/notesSlide" Target="../notesSlides/notesSlide7.xml"/><Relationship Id="rId6" Type="http://schemas.openxmlformats.org/officeDocument/2006/relationships/image" Target="../media/image7.svg"/><Relationship Id="rId7"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D1B9-A570-DB32-424F-E4936D559176}"/>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4" name="Picture 3">
            <a:extLst>
              <a:ext uri="{FF2B5EF4-FFF2-40B4-BE49-F238E27FC236}">
                <a16:creationId xmlns:a16="http://schemas.microsoft.com/office/drawing/2014/main" id="{FE5D2DEF-3A6F-22DF-DC11-FD415D02042D}"/>
              </a:ext>
            </a:extLst>
          </p:cNvPr>
          <p:cNvPicPr>
            <a:picLocks noChangeAspect="1"/>
          </p:cNvPicPr>
          <p:nvPr/>
        </p:nvPicPr>
        <p:blipFill>
          <a:blip r:embed="rId4">
            <a:extLst>
              <a:ext uri="{28A0092B-C50C-407E-A947-70E740481C1C}">
                <a14:useLocalDpi xmlns:a14="http://schemas.microsoft.com/office/drawing/2010/main" val="0"/>
              </a:ext>
            </a:extLst>
          </a:blip>
          <a:srcRect l="8535" r="8535"/>
          <a:stretch>
            <a:fillRect/>
          </a:stretch>
        </p:blipFill>
        <p:spPr>
          <a:xfrm>
            <a:off x="0" y="0"/>
            <a:ext cx="6766560" cy="6858000"/>
          </a:xfrm>
          <a:prstGeom prst="rect">
            <a:avLst/>
          </a:prstGeom>
          <a:scene3d>
            <a:camera prst="orthographicFront">
              <a:rot lat="0" lon="10800000" rev="0"/>
            </a:camera>
            <a:lightRig rig="threePt" dir="t"/>
          </a:scene3d>
        </p:spPr>
      </p:pic>
      <p:sp>
        <p:nvSpPr>
          <p:cNvPr id="12" name="Title 3">
            <a:extLst>
              <a:ext uri="{FF2B5EF4-FFF2-40B4-BE49-F238E27FC236}">
                <a16:creationId xmlns:a16="http://schemas.microsoft.com/office/drawing/2014/main" id="{1F7B0FA0-9D53-70A9-352A-BBC0EC34F991}"/>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Parents and Carers · Secondary · Session 5</a:t>
            </a:r>
          </a:p>
          <a:p>
            <a:pPr marL="0" indent="0" algn="l">
              <a:lnSpc>
                <a:spcPct val="95000"/>
              </a:lnSpc>
              <a:spcBef>
                <a:spcPts val="1000"/>
              </a:spcBef>
              <a:buNone/>
            </a:pPr>
            <a:r>
              <a:rPr lang="en-AU" sz="3600" b="0" dirty="0">
                <a:solidFill>
                  <a:srgbClr val="584099"/>
                </a:solidFill>
                <a:latin typeface="Arial Black"/>
                <a:ea typeface="Arial Black"/>
                <a:cs typeface="Arial Black"/>
              </a:rPr>
              <a:t>Partnership with the School</a:t>
            </a:r>
          </a:p>
        </p:txBody>
      </p:sp>
    </p:spTree>
    <p:custDataLst>
      <p:tags r:id="rId1"/>
    </p:custDataLst>
    <p:extLst>
      <p:ext uri="{BB962C8B-B14F-4D97-AF65-F5344CB8AC3E}">
        <p14:creationId xmlns:p14="http://schemas.microsoft.com/office/powerpoint/2010/main" val="271510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382F8-452B-88C6-A84D-650D7D2C34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A4E05F-DA50-6B99-BED1-648587EBB41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Working in partnership</a:t>
            </a:r>
          </a:p>
        </p:txBody>
      </p:sp>
      <p:sp>
        <p:nvSpPr>
          <p:cNvPr id="6" name="Oval 5"/>
          <p:cNvSpPr/>
          <p:nvPr/>
        </p:nvSpPr>
        <p:spPr>
          <a:xfrm>
            <a:off x="109728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7" name="TextBox 6"/>
          <p:cNvSpPr txBox="1"/>
          <p:nvPr/>
        </p:nvSpPr>
        <p:spPr>
          <a:xfrm>
            <a:off x="123444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Family</a:t>
            </a:r>
          </a:p>
        </p:txBody>
      </p:sp>
      <p:sp>
        <p:nvSpPr>
          <p:cNvPr id="8" name="Oval 7"/>
          <p:cNvSpPr/>
          <p:nvPr/>
        </p:nvSpPr>
        <p:spPr>
          <a:xfrm>
            <a:off x="283464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9" name="TextBox 8"/>
          <p:cNvSpPr txBox="1"/>
          <p:nvPr/>
        </p:nvSpPr>
        <p:spPr>
          <a:xfrm>
            <a:off x="361188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School staff</a:t>
            </a:r>
          </a:p>
        </p:txBody>
      </p:sp>
      <p:sp>
        <p:nvSpPr>
          <p:cNvPr id="10" name="Oval 9"/>
          <p:cNvSpPr/>
          <p:nvPr/>
        </p:nvSpPr>
        <p:spPr>
          <a:xfrm>
            <a:off x="1965960" y="315468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11" name="TextBox 10"/>
          <p:cNvSpPr txBox="1"/>
          <p:nvPr/>
        </p:nvSpPr>
        <p:spPr>
          <a:xfrm>
            <a:off x="2377440" y="530352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Support staff</a:t>
            </a:r>
          </a:p>
        </p:txBody>
      </p:sp>
      <p:sp>
        <p:nvSpPr>
          <p:cNvPr id="12" name="Oval 11"/>
          <p:cNvSpPr/>
          <p:nvPr/>
        </p:nvSpPr>
        <p:spPr>
          <a:xfrm>
            <a:off x="2657139" y="3337560"/>
            <a:ext cx="1783080" cy="640080"/>
          </a:xfrm>
          <a:prstGeom prst="ellipse">
            <a:avLst/>
          </a:prstGeom>
          <a:solidFill>
            <a:srgbClr val="584099"/>
          </a:solidFill>
          <a:ln>
            <a:noFill/>
          </a:ln>
        </p:spPr>
        <p:txBody>
          <a:bodyPr rtlCol="0" anchor="ctr"/>
          <a:lstStyle/>
          <a:p>
            <a:pPr algn="ctr"/>
            <a:endParaRPr/>
          </a:p>
        </p:txBody>
      </p:sp>
      <p:sp>
        <p:nvSpPr>
          <p:cNvPr id="14" name="Rounded Rectangle 13"/>
          <p:cNvSpPr/>
          <p:nvPr/>
        </p:nvSpPr>
        <p:spPr>
          <a:xfrm>
            <a:off x="6949440" y="1920240"/>
            <a:ext cx="4556455" cy="3566160"/>
          </a:xfrm>
          <a:prstGeom prst="roundRect">
            <a:avLst>
              <a:gd name="adj" fmla="val 8000"/>
            </a:avLst>
          </a:prstGeom>
          <a:solidFill>
            <a:srgbClr val="F3F0FA"/>
          </a:solidFill>
          <a:ln>
            <a:noFill/>
          </a:ln>
        </p:spPr>
        <p:txBody>
          <a:bodyPr rtlCol="0" anchor="ctr"/>
          <a:lstStyle/>
          <a:p>
            <a:pPr algn="ctr"/>
            <a:endParaRPr/>
          </a:p>
        </p:txBody>
      </p:sp>
      <p:pic>
        <p:nvPicPr>
          <p:cNvPr id="15"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9480" y="2240280"/>
            <a:ext cx="658368" cy="658368"/>
          </a:xfrm>
          <a:prstGeom prst="rect">
            <a:avLst/>
          </a:prstGeom>
        </p:spPr>
      </p:pic>
      <p:sp>
        <p:nvSpPr>
          <p:cNvPr id="16" name="TextBox 15"/>
          <p:cNvSpPr txBox="1"/>
          <p:nvPr/>
        </p:nvSpPr>
        <p:spPr>
          <a:xfrm>
            <a:off x="7269480" y="3017520"/>
            <a:ext cx="3931920" cy="201168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What is the goal of these intersecting partnerships?</a:t>
            </a:r>
          </a:p>
          <a:p>
            <a:pPr marL="0" indent="0" algn="l">
              <a:lnSpc>
                <a:spcPct val="100000"/>
              </a:lnSpc>
              <a:spcBef>
                <a:spcPts val="1200"/>
              </a:spcBef>
              <a:buNone/>
            </a:pPr>
            <a:r>
              <a:rPr lang="en-AU" sz="1600" b="0">
                <a:solidFill>
                  <a:srgbClr val="2D2440"/>
                </a:solidFill>
                <a:latin typeface="Arial"/>
                <a:ea typeface="Arial"/>
                <a:cs typeface="Arial"/>
              </a:rPr>
              <a:t>Every partner brings different knowledge and a different relationship with your young person.</a:t>
            </a:r>
          </a:p>
          <a:p>
            <a:pPr marL="0" indent="0" algn="l">
              <a:lnSpc>
                <a:spcPct val="100000"/>
              </a:lnSpc>
              <a:spcBef>
                <a:spcPts val="1200"/>
              </a:spcBef>
              <a:buNone/>
            </a:pPr>
            <a:r>
              <a:rPr lang="en-AU" sz="1600" b="1">
                <a:solidFill>
                  <a:srgbClr val="584099"/>
                </a:solidFill>
                <a:latin typeface="Arial"/>
                <a:ea typeface="Arial"/>
                <a:cs typeface="Arial"/>
              </a:rPr>
              <a:t>Your young person is at the centre of every partnership.</a:t>
            </a:r>
          </a:p>
        </p:txBody>
      </p:sp>
      <p:sp>
        <p:nvSpPr>
          <p:cNvPr id="2" name="TextBox 1">
            <a:extLst>
              <a:ext uri="{FF2B5EF4-FFF2-40B4-BE49-F238E27FC236}">
                <a16:creationId xmlns:a16="http://schemas.microsoft.com/office/drawing/2014/main" id="{C758B936-5435-16D0-6819-E05EF9A278A0}"/>
              </a:ext>
            </a:extLst>
          </p:cNvPr>
          <p:cNvSpPr txBox="1"/>
          <p:nvPr/>
        </p:nvSpPr>
        <p:spPr>
          <a:xfrm>
            <a:off x="2657139" y="3322768"/>
            <a:ext cx="178308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700" b="0">
                <a:solidFill>
                  <a:srgbClr val="FFFFFF"/>
                </a:solidFill>
                <a:latin typeface="Arial Black"/>
                <a:ea typeface="Arial Black"/>
                <a:cs typeface="Arial Black"/>
              </a:rPr>
              <a:t>Young person</a:t>
            </a:r>
          </a:p>
        </p:txBody>
      </p:sp>
    </p:spTree>
    <p:extLst>
      <p:ext uri="{BB962C8B-B14F-4D97-AF65-F5344CB8AC3E}">
        <p14:creationId xmlns:p14="http://schemas.microsoft.com/office/powerpoint/2010/main" val="104024188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2A71-DB4E-97BC-3132-9E28665CA6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B504D76-083F-2200-C970-1C646DB25B35}"/>
              </a:ext>
            </a:extLst>
          </p:cNvPr>
          <p:cNvSpPr txBox="1"/>
          <p:nvPr/>
        </p:nvSpPr>
        <p:spPr>
          <a:xfrm>
            <a:off x="685800" y="457200"/>
            <a:ext cx="5445106" cy="1188720"/>
          </a:xfrm>
          <a:prstGeom prst="rect">
            <a:avLst/>
          </a:prstGeom>
          <a:solidFill>
            <a:schemeClr val="bg1"/>
          </a:solidFill>
        </p:spPr>
        <p:txBody>
          <a:bodyPr wrap="square" lIns="0" tIns="0" rIns="0" bIns="0" rtlCol="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Building a home-school partnership</a:t>
            </a:r>
          </a:p>
        </p:txBody>
      </p:sp>
      <p:pic>
        <p:nvPicPr>
          <p:cNvPr id="7" name="Picture 6">
            <a:extLst>
              <a:ext uri="{FF2B5EF4-FFF2-40B4-BE49-F238E27FC236}">
                <a16:creationId xmlns:a16="http://schemas.microsoft.com/office/drawing/2014/main" id="{5C0225A2-F084-EEFE-AA8A-46A192737F61}"/>
              </a:ext>
            </a:extLst>
          </p:cNvPr>
          <p:cNvPicPr>
            <a:picLocks noChangeAspect="1"/>
          </p:cNvPicPr>
          <p:nvPr/>
        </p:nvPicPr>
        <p:blipFill>
          <a:blip r:embed="rId3">
            <a:extLst>
              <a:ext uri="{28A0092B-C50C-407E-A947-70E740481C1C}">
                <a14:useLocalDpi xmlns:a14="http://schemas.microsoft.com/office/drawing/2010/main" val="0"/>
              </a:ext>
            </a:extLst>
          </a:blip>
          <a:srcRect l="3919" r="29143"/>
          <a:stretch>
            <a:fillRect/>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783080"/>
            <a:ext cx="5353666" cy="566928"/>
          </a:xfrm>
          <a:prstGeom prst="roundRect">
            <a:avLst>
              <a:gd name="adj" fmla="val 25000"/>
            </a:avLst>
          </a:prstGeom>
          <a:solidFill>
            <a:srgbClr val="F3F0FA"/>
          </a:solidFill>
          <a:ln>
            <a:noFill/>
          </a:ln>
        </p:spPr>
        <p:txBody>
          <a:bodyPr rtlCol="0" anchor="ctr"/>
          <a:lstStyle/>
          <a:p>
            <a:pPr algn="ctr"/>
            <a:endParaRPr/>
          </a:p>
        </p:txBody>
      </p:sp>
      <p:sp>
        <p:nvSpPr>
          <p:cNvPr id="10" name="TextBox 9"/>
          <p:cNvSpPr txBox="1"/>
          <p:nvPr/>
        </p:nvSpPr>
        <p:spPr>
          <a:xfrm>
            <a:off x="960120" y="1783080"/>
            <a:ext cx="4896466" cy="566928"/>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Parents and families are the first and continuing educators of their children</a:t>
            </a:r>
          </a:p>
        </p:txBody>
      </p:sp>
      <p:sp>
        <p:nvSpPr>
          <p:cNvPr id="11" name="Rounded Rectangle 10"/>
          <p:cNvSpPr/>
          <p:nvPr/>
        </p:nvSpPr>
        <p:spPr>
          <a:xfrm>
            <a:off x="685800" y="2423160"/>
            <a:ext cx="5353666" cy="566928"/>
          </a:xfrm>
          <a:prstGeom prst="roundRect">
            <a:avLst>
              <a:gd name="adj" fmla="val 25000"/>
            </a:avLst>
          </a:prstGeom>
          <a:solidFill>
            <a:srgbClr val="F3F0FA"/>
          </a:solidFill>
          <a:ln>
            <a:noFill/>
          </a:ln>
        </p:spPr>
        <p:txBody>
          <a:bodyPr rtlCol="0" anchor="ctr"/>
          <a:lstStyle/>
          <a:p>
            <a:pPr algn="ctr"/>
            <a:endParaRPr/>
          </a:p>
        </p:txBody>
      </p:sp>
      <p:sp>
        <p:nvSpPr>
          <p:cNvPr id="12" name="TextBox 11"/>
          <p:cNvSpPr txBox="1"/>
          <p:nvPr/>
        </p:nvSpPr>
        <p:spPr>
          <a:xfrm>
            <a:off x="960120" y="2423160"/>
            <a:ext cx="4896466" cy="566928"/>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Learning is lifelong and occurs in multiple settings</a:t>
            </a:r>
          </a:p>
        </p:txBody>
      </p:sp>
      <p:sp>
        <p:nvSpPr>
          <p:cNvPr id="13" name="Rounded Rectangle 12"/>
          <p:cNvSpPr/>
          <p:nvPr/>
        </p:nvSpPr>
        <p:spPr>
          <a:xfrm>
            <a:off x="685800" y="3063240"/>
            <a:ext cx="5353666" cy="786384"/>
          </a:xfrm>
          <a:prstGeom prst="roundRect">
            <a:avLst>
              <a:gd name="adj" fmla="val 25000"/>
            </a:avLst>
          </a:prstGeom>
          <a:solidFill>
            <a:srgbClr val="F3F0FA"/>
          </a:solidFill>
          <a:ln>
            <a:noFill/>
          </a:ln>
        </p:spPr>
        <p:txBody>
          <a:bodyPr rtlCol="0" anchor="ctr"/>
          <a:lstStyle/>
          <a:p>
            <a:pPr algn="ctr"/>
            <a:endParaRPr/>
          </a:p>
        </p:txBody>
      </p:sp>
      <p:sp>
        <p:nvSpPr>
          <p:cNvPr id="14" name="TextBox 13"/>
          <p:cNvSpPr txBox="1"/>
          <p:nvPr/>
        </p:nvSpPr>
        <p:spPr>
          <a:xfrm>
            <a:off x="960120" y="3063240"/>
            <a:ext cx="4896466"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Partnerships, schools and school communities flourish when the diversity and strengths of families are valued and leveraged</a:t>
            </a:r>
          </a:p>
        </p:txBody>
      </p:sp>
      <p:sp>
        <p:nvSpPr>
          <p:cNvPr id="15" name="Rounded Rectangle 14"/>
          <p:cNvSpPr/>
          <p:nvPr/>
        </p:nvSpPr>
        <p:spPr>
          <a:xfrm>
            <a:off x="685800" y="3922776"/>
            <a:ext cx="5353666" cy="566928"/>
          </a:xfrm>
          <a:prstGeom prst="roundRect">
            <a:avLst>
              <a:gd name="adj" fmla="val 25000"/>
            </a:avLst>
          </a:prstGeom>
          <a:solidFill>
            <a:srgbClr val="F3F0FA"/>
          </a:solidFill>
          <a:ln>
            <a:noFill/>
          </a:ln>
        </p:spPr>
        <p:txBody>
          <a:bodyPr rtlCol="0" anchor="ctr"/>
          <a:lstStyle/>
          <a:p>
            <a:pPr algn="ctr"/>
            <a:endParaRPr/>
          </a:p>
        </p:txBody>
      </p:sp>
      <p:sp>
        <p:nvSpPr>
          <p:cNvPr id="16" name="TextBox 15"/>
          <p:cNvSpPr txBox="1"/>
          <p:nvPr/>
        </p:nvSpPr>
        <p:spPr>
          <a:xfrm>
            <a:off x="960120" y="3922776"/>
            <a:ext cx="4896466" cy="566928"/>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Community engagement expands responsibility and resources</a:t>
            </a:r>
          </a:p>
        </p:txBody>
      </p:sp>
      <p:sp>
        <p:nvSpPr>
          <p:cNvPr id="17" name="Rounded Rectangle 16"/>
          <p:cNvSpPr/>
          <p:nvPr/>
        </p:nvSpPr>
        <p:spPr>
          <a:xfrm>
            <a:off x="685800" y="4562856"/>
            <a:ext cx="5353666" cy="566928"/>
          </a:xfrm>
          <a:prstGeom prst="roundRect">
            <a:avLst>
              <a:gd name="adj" fmla="val 25000"/>
            </a:avLst>
          </a:prstGeom>
          <a:solidFill>
            <a:srgbClr val="F3F0FA"/>
          </a:solidFill>
          <a:ln>
            <a:noFill/>
          </a:ln>
        </p:spPr>
        <p:txBody>
          <a:bodyPr rtlCol="0" anchor="ctr"/>
          <a:lstStyle/>
          <a:p>
            <a:pPr algn="ctr"/>
            <a:endParaRPr/>
          </a:p>
        </p:txBody>
      </p:sp>
      <p:sp>
        <p:nvSpPr>
          <p:cNvPr id="18" name="TextBox 17"/>
          <p:cNvSpPr txBox="1"/>
          <p:nvPr/>
        </p:nvSpPr>
        <p:spPr>
          <a:xfrm>
            <a:off x="960120" y="4562856"/>
            <a:ext cx="4896466" cy="566928"/>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Partnerships grow from mutual trust, respect and responsibility</a:t>
            </a:r>
          </a:p>
        </p:txBody>
      </p:sp>
      <p:sp>
        <p:nvSpPr>
          <p:cNvPr id="19" name="Rounded Rectangle 18"/>
          <p:cNvSpPr/>
          <p:nvPr/>
        </p:nvSpPr>
        <p:spPr>
          <a:xfrm>
            <a:off x="685800" y="5202936"/>
            <a:ext cx="5353666" cy="566928"/>
          </a:xfrm>
          <a:prstGeom prst="roundRect">
            <a:avLst>
              <a:gd name="adj" fmla="val 25000"/>
            </a:avLst>
          </a:prstGeom>
          <a:solidFill>
            <a:srgbClr val="F3F0FA"/>
          </a:solidFill>
          <a:ln>
            <a:noFill/>
          </a:ln>
        </p:spPr>
        <p:txBody>
          <a:bodyPr rtlCol="0" anchor="ctr"/>
          <a:lstStyle/>
          <a:p>
            <a:pPr algn="ctr"/>
            <a:endParaRPr/>
          </a:p>
        </p:txBody>
      </p:sp>
      <p:sp>
        <p:nvSpPr>
          <p:cNvPr id="20" name="TextBox 19"/>
          <p:cNvSpPr txBox="1"/>
          <p:nvPr/>
        </p:nvSpPr>
        <p:spPr>
          <a:xfrm>
            <a:off x="960120" y="5202936"/>
            <a:ext cx="4896466" cy="566928"/>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Partnerships need committed, collaborative and creative leadership</a:t>
            </a:r>
          </a:p>
        </p:txBody>
      </p:sp>
      <p:sp>
        <p:nvSpPr>
          <p:cNvPr id="21" name="TextBox 20"/>
          <p:cNvSpPr txBox="1"/>
          <p:nvPr/>
        </p:nvSpPr>
        <p:spPr>
          <a:xfrm>
            <a:off x="685800" y="5998464"/>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100" b="0">
                <a:solidFill>
                  <a:srgbClr val="5B5670"/>
                </a:solidFill>
                <a:latin typeface="Arial"/>
                <a:ea typeface="Arial"/>
                <a:cs typeface="Arial"/>
              </a:rPr>
              <a:t>Family-School Partnerships Framework, Department of Education, 2020</a:t>
            </a:r>
          </a:p>
        </p:txBody>
      </p:sp>
    </p:spTree>
    <p:extLst>
      <p:ext uri="{BB962C8B-B14F-4D97-AF65-F5344CB8AC3E}">
        <p14:creationId xmlns:p14="http://schemas.microsoft.com/office/powerpoint/2010/main" val="58971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9244D-510C-C6BB-761F-A461E115D5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7876DD-2B34-7063-87FE-E7FB353BEA9D}"/>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What is effective collaboration?</a:t>
            </a:r>
          </a:p>
        </p:txBody>
      </p:sp>
      <p:pic>
        <p:nvPicPr>
          <p:cNvPr id="3" name="Graphic 2" descr="Open hand with plant with solid fill">
            <a:extLst>
              <a:ext uri="{FF2B5EF4-FFF2-40B4-BE49-F238E27FC236}">
                <a16:creationId xmlns:a16="http://schemas.microsoft.com/office/drawing/2014/main" id="{3100122F-92D3-EF73-C7AD-7DFAAD7A4B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2808" y="2148840"/>
            <a:ext cx="2926080" cy="2926080"/>
          </a:xfrm>
          <a:prstGeom prst="rect">
            <a:avLst/>
          </a:prstGeom>
        </p:spPr>
      </p:pic>
      <p:sp>
        <p:nvSpPr>
          <p:cNvPr id="23" name="Rounded Rectangle 22"/>
          <p:cNvSpPr/>
          <p:nvPr/>
        </p:nvSpPr>
        <p:spPr>
          <a:xfrm>
            <a:off x="685800"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24" name="TextBox 23"/>
          <p:cNvSpPr txBox="1"/>
          <p:nvPr/>
        </p:nvSpPr>
        <p:spPr>
          <a:xfrm>
            <a:off x="960120"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goals</a:t>
            </a:r>
          </a:p>
        </p:txBody>
      </p:sp>
      <p:sp>
        <p:nvSpPr>
          <p:cNvPr id="25" name="Rounded Rectangle 24"/>
          <p:cNvSpPr/>
          <p:nvPr/>
        </p:nvSpPr>
        <p:spPr>
          <a:xfrm>
            <a:off x="685800" y="2624328"/>
            <a:ext cx="3931920" cy="731520"/>
          </a:xfrm>
          <a:prstGeom prst="roundRect">
            <a:avLst>
              <a:gd name="adj" fmla="val 25000"/>
            </a:avLst>
          </a:prstGeom>
          <a:solidFill>
            <a:srgbClr val="F3F0FA"/>
          </a:solidFill>
          <a:ln>
            <a:noFill/>
          </a:ln>
        </p:spPr>
        <p:txBody>
          <a:bodyPr rtlCol="0" anchor="ctr"/>
          <a:lstStyle/>
          <a:p>
            <a:pPr algn="ctr"/>
            <a:endParaRPr/>
          </a:p>
        </p:txBody>
      </p:sp>
      <p:sp>
        <p:nvSpPr>
          <p:cNvPr id="26" name="TextBox 25"/>
          <p:cNvSpPr txBox="1"/>
          <p:nvPr/>
        </p:nvSpPr>
        <p:spPr>
          <a:xfrm>
            <a:off x="960120" y="2624328"/>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values</a:t>
            </a:r>
          </a:p>
        </p:txBody>
      </p:sp>
      <p:sp>
        <p:nvSpPr>
          <p:cNvPr id="27" name="Rounded Rectangle 26"/>
          <p:cNvSpPr/>
          <p:nvPr/>
        </p:nvSpPr>
        <p:spPr>
          <a:xfrm>
            <a:off x="685800" y="3511296"/>
            <a:ext cx="3931920" cy="731520"/>
          </a:xfrm>
          <a:prstGeom prst="roundRect">
            <a:avLst>
              <a:gd name="adj" fmla="val 25000"/>
            </a:avLst>
          </a:prstGeom>
          <a:solidFill>
            <a:srgbClr val="F3F0FA"/>
          </a:solidFill>
          <a:ln>
            <a:noFill/>
          </a:ln>
        </p:spPr>
        <p:txBody>
          <a:bodyPr rtlCol="0" anchor="ctr"/>
          <a:lstStyle/>
          <a:p>
            <a:pPr algn="ctr"/>
            <a:endParaRPr/>
          </a:p>
        </p:txBody>
      </p:sp>
      <p:sp>
        <p:nvSpPr>
          <p:cNvPr id="28" name="TextBox 27"/>
          <p:cNvSpPr txBox="1"/>
          <p:nvPr/>
        </p:nvSpPr>
        <p:spPr>
          <a:xfrm>
            <a:off x="960120" y="351129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Mutual trust and respect</a:t>
            </a:r>
          </a:p>
        </p:txBody>
      </p:sp>
      <p:sp>
        <p:nvSpPr>
          <p:cNvPr id="29" name="Rounded Rectangle 28"/>
          <p:cNvSpPr/>
          <p:nvPr/>
        </p:nvSpPr>
        <p:spPr>
          <a:xfrm>
            <a:off x="685800" y="4398264"/>
            <a:ext cx="3931920" cy="731520"/>
          </a:xfrm>
          <a:prstGeom prst="roundRect">
            <a:avLst>
              <a:gd name="adj" fmla="val 25000"/>
            </a:avLst>
          </a:prstGeom>
          <a:solidFill>
            <a:srgbClr val="F3F0FA"/>
          </a:solidFill>
          <a:ln>
            <a:noFill/>
          </a:ln>
        </p:spPr>
        <p:txBody>
          <a:bodyPr rtlCol="0" anchor="ctr"/>
          <a:lstStyle/>
          <a:p>
            <a:pPr algn="ctr"/>
            <a:endParaRPr/>
          </a:p>
        </p:txBody>
      </p:sp>
      <p:sp>
        <p:nvSpPr>
          <p:cNvPr id="30" name="TextBox 29"/>
          <p:cNvSpPr txBox="1"/>
          <p:nvPr/>
        </p:nvSpPr>
        <p:spPr>
          <a:xfrm>
            <a:off x="960120" y="439826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Consult on decision-making</a:t>
            </a:r>
          </a:p>
        </p:txBody>
      </p:sp>
      <p:sp>
        <p:nvSpPr>
          <p:cNvPr id="31" name="Rounded Rectangle 30"/>
          <p:cNvSpPr/>
          <p:nvPr/>
        </p:nvSpPr>
        <p:spPr>
          <a:xfrm>
            <a:off x="7573975"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32" name="TextBox 31"/>
          <p:cNvSpPr txBox="1"/>
          <p:nvPr/>
        </p:nvSpPr>
        <p:spPr>
          <a:xfrm>
            <a:off x="7848295"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Seeing other perspectives</a:t>
            </a:r>
          </a:p>
        </p:txBody>
      </p:sp>
      <p:sp>
        <p:nvSpPr>
          <p:cNvPr id="33" name="Rounded Rectangle 32"/>
          <p:cNvSpPr/>
          <p:nvPr/>
        </p:nvSpPr>
        <p:spPr>
          <a:xfrm>
            <a:off x="7573975" y="2624328"/>
            <a:ext cx="3931920" cy="914400"/>
          </a:xfrm>
          <a:prstGeom prst="roundRect">
            <a:avLst>
              <a:gd name="adj" fmla="val 25000"/>
            </a:avLst>
          </a:prstGeom>
          <a:solidFill>
            <a:srgbClr val="F3F0FA"/>
          </a:solidFill>
          <a:ln>
            <a:noFill/>
          </a:ln>
        </p:spPr>
        <p:txBody>
          <a:bodyPr rtlCol="0" anchor="ctr"/>
          <a:lstStyle/>
          <a:p>
            <a:pPr algn="ctr"/>
            <a:endParaRPr/>
          </a:p>
        </p:txBody>
      </p:sp>
      <p:sp>
        <p:nvSpPr>
          <p:cNvPr id="34" name="TextBox 33"/>
          <p:cNvSpPr txBox="1"/>
          <p:nvPr/>
        </p:nvSpPr>
        <p:spPr>
          <a:xfrm>
            <a:off x="7848295" y="2624328"/>
            <a:ext cx="3383280" cy="914400"/>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Invite curiosity: How could we work together so school goes well for my young person?</a:t>
            </a:r>
          </a:p>
        </p:txBody>
      </p:sp>
      <p:sp>
        <p:nvSpPr>
          <p:cNvPr id="35" name="Rounded Rectangle 34"/>
          <p:cNvSpPr/>
          <p:nvPr/>
        </p:nvSpPr>
        <p:spPr>
          <a:xfrm>
            <a:off x="7573975" y="3694176"/>
            <a:ext cx="3931920" cy="731520"/>
          </a:xfrm>
          <a:prstGeom prst="roundRect">
            <a:avLst>
              <a:gd name="adj" fmla="val 25000"/>
            </a:avLst>
          </a:prstGeom>
          <a:solidFill>
            <a:srgbClr val="F3F0FA"/>
          </a:solidFill>
          <a:ln>
            <a:noFill/>
          </a:ln>
        </p:spPr>
        <p:txBody>
          <a:bodyPr rtlCol="0" anchor="ctr"/>
          <a:lstStyle/>
          <a:p>
            <a:pPr algn="ctr"/>
            <a:endParaRPr/>
          </a:p>
        </p:txBody>
      </p:sp>
      <p:sp>
        <p:nvSpPr>
          <p:cNvPr id="36" name="TextBox 35"/>
          <p:cNvSpPr txBox="1"/>
          <p:nvPr/>
        </p:nvSpPr>
        <p:spPr>
          <a:xfrm>
            <a:off x="7848295" y="369417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Centring your young person's voice</a:t>
            </a:r>
          </a:p>
        </p:txBody>
      </p:sp>
      <p:sp>
        <p:nvSpPr>
          <p:cNvPr id="37" name="Rounded Rectangle 36"/>
          <p:cNvSpPr/>
          <p:nvPr/>
        </p:nvSpPr>
        <p:spPr>
          <a:xfrm>
            <a:off x="7573975" y="4581144"/>
            <a:ext cx="3931920" cy="731520"/>
          </a:xfrm>
          <a:prstGeom prst="roundRect">
            <a:avLst>
              <a:gd name="adj" fmla="val 25000"/>
            </a:avLst>
          </a:prstGeom>
          <a:solidFill>
            <a:srgbClr val="F3F0FA"/>
          </a:solidFill>
          <a:ln>
            <a:noFill/>
          </a:ln>
        </p:spPr>
        <p:txBody>
          <a:bodyPr rtlCol="0" anchor="ctr"/>
          <a:lstStyle/>
          <a:p>
            <a:pPr algn="ctr"/>
            <a:endParaRPr/>
          </a:p>
        </p:txBody>
      </p:sp>
      <p:sp>
        <p:nvSpPr>
          <p:cNvPr id="38" name="TextBox 37"/>
          <p:cNvSpPr txBox="1"/>
          <p:nvPr/>
        </p:nvSpPr>
        <p:spPr>
          <a:xfrm>
            <a:off x="7848295" y="458114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Assume good intent</a:t>
            </a:r>
          </a:p>
        </p:txBody>
      </p:sp>
    </p:spTree>
    <p:extLst>
      <p:ext uri="{BB962C8B-B14F-4D97-AF65-F5344CB8AC3E}">
        <p14:creationId xmlns:p14="http://schemas.microsoft.com/office/powerpoint/2010/main" val="2825758316"/>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0FC69C-54F3-05A7-B346-4E036CA9F2D3}"/>
              </a:ext>
            </a:extLst>
          </p:cNvPr>
          <p:cNvPicPr>
            <a:picLocks noChangeAspect="1"/>
          </p:cNvPicPr>
          <p:nvPr/>
        </p:nvPicPr>
        <p:blipFill>
          <a:blip r:embed="rId4"/>
          <a:stretch>
            <a:fillRect/>
          </a:stretch>
        </p:blipFill>
        <p:spPr>
          <a:xfrm>
            <a:off x="5078454" y="2003743"/>
            <a:ext cx="6608395" cy="3094461"/>
          </a:xfrm>
          <a:prstGeom prst="rect">
            <a:avLst/>
          </a:prstGeom>
        </p:spPr>
      </p:pic>
      <p:sp>
        <p:nvSpPr>
          <p:cNvPr id="3" name="Title 3">
            <a:extLst>
              <a:ext uri="{FF2B5EF4-FFF2-40B4-BE49-F238E27FC236}">
                <a16:creationId xmlns:a16="http://schemas.microsoft.com/office/drawing/2014/main" id="{017F69A2-4E80-48E0-BDCA-6D087D9DE7AF}"/>
              </a:ext>
            </a:extLst>
          </p:cNvPr>
          <p:cNvSpPr txBox="1">
            <a:spLocks/>
          </p:cNvSpPr>
          <p:nvPr/>
        </p:nvSpPr>
        <p:spPr>
          <a:xfrm>
            <a:off x="685800" y="457200"/>
            <a:ext cx="10789920"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95000"/>
              </a:lnSpc>
              <a:spcBef>
                <a:spcPts val="0"/>
              </a:spcBef>
              <a:buNone/>
            </a:pPr>
            <a:r>
              <a:rPr lang="en-AU" sz="3600" b="0">
                <a:solidFill>
                  <a:srgbClr val="584099"/>
                </a:solidFill>
                <a:latin typeface="Arial Black"/>
                <a:ea typeface="Arial Black"/>
                <a:cs typeface="Arial Black"/>
              </a:rPr>
              <a:t>Power dynamics</a:t>
            </a:r>
          </a:p>
        </p:txBody>
      </p:sp>
      <p:sp>
        <p:nvSpPr>
          <p:cNvPr id="5" name="TextBox 4">
            <a:extLst>
              <a:ext uri="{FF2B5EF4-FFF2-40B4-BE49-F238E27FC236}">
                <a16:creationId xmlns:a16="http://schemas.microsoft.com/office/drawing/2014/main" id="{5C3E7BD3-ACD6-4A5D-B3A7-83716831489D}"/>
              </a:ext>
            </a:extLst>
          </p:cNvPr>
          <p:cNvSpPr txBox="1"/>
          <p:nvPr/>
        </p:nvSpPr>
        <p:spPr>
          <a:xfrm>
            <a:off x="9123426" y="4227460"/>
            <a:ext cx="1887474"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School</a:t>
            </a:r>
          </a:p>
        </p:txBody>
      </p:sp>
      <p:sp>
        <p:nvSpPr>
          <p:cNvPr id="8" name="TextBox 7">
            <a:extLst>
              <a:ext uri="{FF2B5EF4-FFF2-40B4-BE49-F238E27FC236}">
                <a16:creationId xmlns:a16="http://schemas.microsoft.com/office/drawing/2014/main" id="{A39AF474-49DB-4994-9B0B-E907B650A5BE}"/>
              </a:ext>
            </a:extLst>
          </p:cNvPr>
          <p:cNvSpPr txBox="1"/>
          <p:nvPr/>
        </p:nvSpPr>
        <p:spPr>
          <a:xfrm>
            <a:off x="5424419" y="4227461"/>
            <a:ext cx="1751167"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Home</a:t>
            </a:r>
          </a:p>
        </p:txBody>
      </p:sp>
      <p:pic>
        <p:nvPicPr>
          <p:cNvPr id="7" name="Graphic 6" descr="Confused person">
            <a:extLst>
              <a:ext uri="{FF2B5EF4-FFF2-40B4-BE49-F238E27FC236}">
                <a16:creationId xmlns:a16="http://schemas.microsoft.com/office/drawing/2014/main" id="{5436BB0C-EB1E-4C4A-A071-D6F24BFC66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02768" y="2132525"/>
            <a:ext cx="1503427" cy="1418449"/>
          </a:xfrm>
          <a:prstGeom prst="rect">
            <a:avLst/>
          </a:prstGeom>
        </p:spPr>
      </p:pic>
      <p:sp>
        <p:nvSpPr>
          <p:cNvPr id="9" name="TextBox 8">
            <a:extLst>
              <a:ext uri="{FF2B5EF4-FFF2-40B4-BE49-F238E27FC236}">
                <a16:creationId xmlns:a16="http://schemas.microsoft.com/office/drawing/2014/main" id="{FB9EA08C-CE5C-4006-A049-2F14C8C74149}"/>
              </a:ext>
            </a:extLst>
          </p:cNvPr>
          <p:cNvSpPr txBox="1"/>
          <p:nvPr/>
        </p:nvSpPr>
        <p:spPr>
          <a:xfrm>
            <a:off x="7255326" y="1283934"/>
            <a:ext cx="1998309"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Young person</a:t>
            </a:r>
          </a:p>
        </p:txBody>
      </p:sp>
      <p:sp>
        <p:nvSpPr>
          <p:cNvPr id="11" name="TextBox 10"/>
          <p:cNvSpPr txBox="1"/>
          <p:nvPr/>
        </p:nvSpPr>
        <p:spPr>
          <a:xfrm>
            <a:off x="685800" y="1325880"/>
            <a:ext cx="420624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Power can sit in:</a:t>
            </a:r>
          </a:p>
        </p:txBody>
      </p:sp>
      <p:sp>
        <p:nvSpPr>
          <p:cNvPr id="12" name="Rounded Rectangle 11"/>
          <p:cNvSpPr/>
          <p:nvPr/>
        </p:nvSpPr>
        <p:spPr>
          <a:xfrm>
            <a:off x="685800" y="1874520"/>
            <a:ext cx="4206240" cy="713232"/>
          </a:xfrm>
          <a:prstGeom prst="roundRect">
            <a:avLst>
              <a:gd name="adj" fmla="val 20000"/>
            </a:avLst>
          </a:prstGeom>
          <a:solidFill>
            <a:srgbClr val="F3F0FA"/>
          </a:solidFill>
          <a:ln>
            <a:noFill/>
          </a:ln>
        </p:spPr>
        <p:txBody>
          <a:bodyPr rtlCol="0" anchor="ctr"/>
          <a:lstStyle/>
          <a:p>
            <a:pPr algn="ctr"/>
            <a:endParaRPr/>
          </a:p>
        </p:txBody>
      </p:sp>
      <p:sp>
        <p:nvSpPr>
          <p:cNvPr id="13" name="TextBox 12"/>
          <p:cNvSpPr txBox="1"/>
          <p:nvPr/>
        </p:nvSpPr>
        <p:spPr>
          <a:xfrm>
            <a:off x="960120" y="187452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Socio-economic status</a:t>
            </a:r>
          </a:p>
        </p:txBody>
      </p:sp>
      <p:sp>
        <p:nvSpPr>
          <p:cNvPr id="14" name="Rounded Rectangle 13"/>
          <p:cNvSpPr/>
          <p:nvPr/>
        </p:nvSpPr>
        <p:spPr>
          <a:xfrm>
            <a:off x="685800" y="2697480"/>
            <a:ext cx="4206240" cy="713232"/>
          </a:xfrm>
          <a:prstGeom prst="roundRect">
            <a:avLst>
              <a:gd name="adj" fmla="val 20000"/>
            </a:avLst>
          </a:prstGeom>
          <a:solidFill>
            <a:srgbClr val="F3F0FA"/>
          </a:solidFill>
          <a:ln>
            <a:noFill/>
          </a:ln>
        </p:spPr>
        <p:txBody>
          <a:bodyPr rtlCol="0" anchor="ctr"/>
          <a:lstStyle/>
          <a:p>
            <a:pPr algn="ctr"/>
            <a:endParaRPr/>
          </a:p>
        </p:txBody>
      </p:sp>
      <p:sp>
        <p:nvSpPr>
          <p:cNvPr id="15" name="TextBox 14"/>
          <p:cNvSpPr txBox="1"/>
          <p:nvPr/>
        </p:nvSpPr>
        <p:spPr>
          <a:xfrm>
            <a:off x="960120" y="269748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Historical / cultural experiences of education</a:t>
            </a:r>
          </a:p>
        </p:txBody>
      </p:sp>
      <p:sp>
        <p:nvSpPr>
          <p:cNvPr id="16" name="Rounded Rectangle 15"/>
          <p:cNvSpPr/>
          <p:nvPr/>
        </p:nvSpPr>
        <p:spPr>
          <a:xfrm>
            <a:off x="685800" y="3520440"/>
            <a:ext cx="4206240" cy="713232"/>
          </a:xfrm>
          <a:prstGeom prst="roundRect">
            <a:avLst>
              <a:gd name="adj" fmla="val 20000"/>
            </a:avLst>
          </a:prstGeom>
          <a:solidFill>
            <a:srgbClr val="F3F0FA"/>
          </a:solidFill>
          <a:ln>
            <a:noFill/>
          </a:ln>
        </p:spPr>
        <p:txBody>
          <a:bodyPr rtlCol="0" anchor="ctr"/>
          <a:lstStyle/>
          <a:p>
            <a:pPr algn="ctr"/>
            <a:endParaRPr/>
          </a:p>
        </p:txBody>
      </p:sp>
      <p:sp>
        <p:nvSpPr>
          <p:cNvPr id="17" name="TextBox 16"/>
          <p:cNvSpPr txBox="1"/>
          <p:nvPr/>
        </p:nvSpPr>
        <p:spPr>
          <a:xfrm>
            <a:off x="960120" y="352044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Speaking English vs speaking a language other than English</a:t>
            </a:r>
          </a:p>
        </p:txBody>
      </p:sp>
      <p:sp>
        <p:nvSpPr>
          <p:cNvPr id="18" name="Rounded Rectangle 17"/>
          <p:cNvSpPr/>
          <p:nvPr/>
        </p:nvSpPr>
        <p:spPr>
          <a:xfrm>
            <a:off x="685800" y="4343400"/>
            <a:ext cx="4206240" cy="713232"/>
          </a:xfrm>
          <a:prstGeom prst="roundRect">
            <a:avLst>
              <a:gd name="adj" fmla="val 20000"/>
            </a:avLst>
          </a:prstGeom>
          <a:solidFill>
            <a:srgbClr val="F3F0FA"/>
          </a:solidFill>
          <a:ln>
            <a:noFill/>
          </a:ln>
        </p:spPr>
        <p:txBody>
          <a:bodyPr rtlCol="0" anchor="ctr"/>
          <a:lstStyle/>
          <a:p>
            <a:pPr algn="ctr"/>
            <a:endParaRPr/>
          </a:p>
        </p:txBody>
      </p:sp>
      <p:sp>
        <p:nvSpPr>
          <p:cNvPr id="19" name="TextBox 18"/>
          <p:cNvSpPr txBox="1"/>
          <p:nvPr/>
        </p:nvSpPr>
        <p:spPr>
          <a:xfrm>
            <a:off x="960120" y="434340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How school works: teaching approaches and school systems</a:t>
            </a:r>
          </a:p>
        </p:txBody>
      </p:sp>
      <p:sp>
        <p:nvSpPr>
          <p:cNvPr id="20" name="Rounded Rectangle 19"/>
          <p:cNvSpPr/>
          <p:nvPr/>
        </p:nvSpPr>
        <p:spPr>
          <a:xfrm>
            <a:off x="685800" y="5166360"/>
            <a:ext cx="4206240" cy="713232"/>
          </a:xfrm>
          <a:prstGeom prst="roundRect">
            <a:avLst>
              <a:gd name="adj" fmla="val 20000"/>
            </a:avLst>
          </a:prstGeom>
          <a:solidFill>
            <a:srgbClr val="F3F0FA"/>
          </a:solidFill>
          <a:ln>
            <a:noFill/>
          </a:ln>
        </p:spPr>
        <p:txBody>
          <a:bodyPr rtlCol="0" anchor="ctr"/>
          <a:lstStyle/>
          <a:p>
            <a:pPr algn="ctr"/>
            <a:endParaRPr/>
          </a:p>
        </p:txBody>
      </p:sp>
      <p:sp>
        <p:nvSpPr>
          <p:cNvPr id="21" name="TextBox 20"/>
          <p:cNvSpPr txBox="1"/>
          <p:nvPr/>
        </p:nvSpPr>
        <p:spPr>
          <a:xfrm>
            <a:off x="960120" y="516636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Perception of the importance / experience of school</a:t>
            </a:r>
          </a:p>
        </p:txBody>
      </p:sp>
    </p:spTree>
    <p:custDataLst>
      <p:tags r:id="rId1"/>
    </p:custDataLst>
    <p:extLst>
      <p:ext uri="{BB962C8B-B14F-4D97-AF65-F5344CB8AC3E}">
        <p14:creationId xmlns:p14="http://schemas.microsoft.com/office/powerpoint/2010/main" val="58030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200" fill="hold">
                                          <p:stCondLst>
                                            <p:cond delay="0"/>
                                          </p:stCondLst>
                                        </p:cTn>
                                        <p:tgtEl>
                                          <p:spTgt spid="2"/>
                                        </p:tgtEl>
                                        <p:attrNameLst>
                                          <p:attrName>r</p:attrName>
                                        </p:attrNameLst>
                                      </p:cBhvr>
                                    </p:animRot>
                                    <p:animRot by="-240000">
                                      <p:cBhvr>
                                        <p:cTn id="7" dur="400" fill="hold">
                                          <p:stCondLst>
                                            <p:cond delay="400"/>
                                          </p:stCondLst>
                                        </p:cTn>
                                        <p:tgtEl>
                                          <p:spTgt spid="2"/>
                                        </p:tgtEl>
                                        <p:attrNameLst>
                                          <p:attrName>r</p:attrName>
                                        </p:attrNameLst>
                                      </p:cBhvr>
                                    </p:animRot>
                                    <p:animRot by="240000">
                                      <p:cBhvr>
                                        <p:cTn id="8" dur="400" fill="hold">
                                          <p:stCondLst>
                                            <p:cond delay="800"/>
                                          </p:stCondLst>
                                        </p:cTn>
                                        <p:tgtEl>
                                          <p:spTgt spid="2"/>
                                        </p:tgtEl>
                                        <p:attrNameLst>
                                          <p:attrName>r</p:attrName>
                                        </p:attrNameLst>
                                      </p:cBhvr>
                                    </p:animRot>
                                    <p:animRot by="-240000">
                                      <p:cBhvr>
                                        <p:cTn id="9" dur="400" fill="hold">
                                          <p:stCondLst>
                                            <p:cond delay="1200"/>
                                          </p:stCondLst>
                                        </p:cTn>
                                        <p:tgtEl>
                                          <p:spTgt spid="2"/>
                                        </p:tgtEl>
                                        <p:attrNameLst>
                                          <p:attrName>r</p:attrName>
                                        </p:attrNameLst>
                                      </p:cBhvr>
                                    </p:animRot>
                                    <p:animRot by="120000">
                                      <p:cBhvr>
                                        <p:cTn id="10" dur="400" fill="hold">
                                          <p:stCondLst>
                                            <p:cond delay="16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Power dynamics activity</a:t>
            </a:r>
          </a:p>
        </p:txBody>
      </p:sp>
      <p:sp>
        <p:nvSpPr>
          <p:cNvPr id="5" name="TextBox 4"/>
          <p:cNvSpPr txBox="1"/>
          <p:nvPr/>
        </p:nvSpPr>
        <p:spPr>
          <a:xfrm>
            <a:off x="685800" y="132588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FFFFFF"/>
                </a:solidFill>
                <a:latin typeface="Arial"/>
                <a:ea typeface="Arial"/>
                <a:cs typeface="Arial"/>
              </a:rPr>
              <a:t>On sticky notes:</a:t>
            </a:r>
          </a:p>
        </p:txBody>
      </p:sp>
      <p:sp>
        <p:nvSpPr>
          <p:cNvPr id="6" name="Oval 5"/>
          <p:cNvSpPr/>
          <p:nvPr/>
        </p:nvSpPr>
        <p:spPr>
          <a:xfrm>
            <a:off x="685800" y="210312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7" name="TextBox 6"/>
          <p:cNvSpPr txBox="1"/>
          <p:nvPr/>
        </p:nvSpPr>
        <p:spPr>
          <a:xfrm>
            <a:off x="685800" y="21031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1</a:t>
            </a:r>
          </a:p>
        </p:txBody>
      </p:sp>
      <p:sp>
        <p:nvSpPr>
          <p:cNvPr id="8" name="TextBox 7"/>
          <p:cNvSpPr txBox="1"/>
          <p:nvPr/>
        </p:nvSpPr>
        <p:spPr>
          <a:xfrm>
            <a:off x="1325880" y="199339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home perspective.</a:t>
            </a:r>
          </a:p>
        </p:txBody>
      </p:sp>
      <p:sp>
        <p:nvSpPr>
          <p:cNvPr id="9" name="Oval 8"/>
          <p:cNvSpPr/>
          <p:nvPr/>
        </p:nvSpPr>
        <p:spPr>
          <a:xfrm>
            <a:off x="685800" y="297180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0" name="TextBox 9"/>
          <p:cNvSpPr txBox="1"/>
          <p:nvPr/>
        </p:nvSpPr>
        <p:spPr>
          <a:xfrm>
            <a:off x="685800" y="29718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2</a:t>
            </a:r>
          </a:p>
        </p:txBody>
      </p:sp>
      <p:sp>
        <p:nvSpPr>
          <p:cNvPr id="11" name="TextBox 10"/>
          <p:cNvSpPr txBox="1"/>
          <p:nvPr/>
        </p:nvSpPr>
        <p:spPr>
          <a:xfrm>
            <a:off x="1325880" y="286207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school perspective.</a:t>
            </a:r>
          </a:p>
        </p:txBody>
      </p:sp>
      <p:sp>
        <p:nvSpPr>
          <p:cNvPr id="12" name="Oval 11"/>
          <p:cNvSpPr/>
          <p:nvPr/>
        </p:nvSpPr>
        <p:spPr>
          <a:xfrm>
            <a:off x="685800" y="384048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3" name="TextBox 12"/>
          <p:cNvSpPr txBox="1"/>
          <p:nvPr/>
        </p:nvSpPr>
        <p:spPr>
          <a:xfrm>
            <a:off x="685800" y="38404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3</a:t>
            </a:r>
          </a:p>
        </p:txBody>
      </p:sp>
      <p:sp>
        <p:nvSpPr>
          <p:cNvPr id="14" name="TextBox 13"/>
          <p:cNvSpPr txBox="1"/>
          <p:nvPr/>
        </p:nvSpPr>
        <p:spPr>
          <a:xfrm>
            <a:off x="1325880" y="373075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how you could address these imbalances.</a:t>
            </a:r>
          </a:p>
        </p:txBody>
      </p:sp>
      <p:sp>
        <p:nvSpPr>
          <p:cNvPr id="15" name="TextBox 14"/>
          <p:cNvSpPr txBox="1"/>
          <p:nvPr/>
        </p:nvSpPr>
        <p:spPr>
          <a:xfrm>
            <a:off x="685800" y="480060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1700" b="0">
                <a:solidFill>
                  <a:srgbClr val="E6E0F5"/>
                </a:solidFill>
                <a:latin typeface="Arial"/>
                <a:ea typeface="Arial"/>
                <a:cs typeface="Arial"/>
              </a:rPr>
              <a:t>Share at your table, or add your notes to the wall under Home, School and Solutions.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9052560" y="3931920"/>
            <a:ext cx="5486400" cy="5486400"/>
          </a:xfrm>
          <a:prstGeom prst="ellipse">
            <a:avLst/>
          </a:prstGeom>
          <a:solidFill>
            <a:srgbClr val="EDE8F8"/>
          </a:solidFill>
          <a:ln>
            <a:noFill/>
          </a:ln>
        </p:spPr>
        <p:txBody>
          <a:bodyPr rtlCol="0" anchor="ctr"/>
          <a:lstStyle/>
          <a:p>
            <a:pPr algn="ctr"/>
            <a:endParaRPr/>
          </a:p>
        </p:txBody>
      </p:sp>
      <p:pic>
        <p:nvPicPr>
          <p:cNvPr id="11" name="Graphic 19">
            <a:extLst>
              <a:ext uri="{FF2B5EF4-FFF2-40B4-BE49-F238E27FC236}">
                <a16:creationId xmlns:a16="http://schemas.microsoft.com/office/drawing/2014/main" id="{5AADB8DD-F243-4F8D-BC60-11443AF4F579}"/>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5800" y="1551622"/>
            <a:ext cx="914400" cy="914400"/>
          </a:xfrm>
          <a:prstGeom prst="rect">
            <a:avLst/>
          </a:prstGeom>
        </p:spPr>
      </p:pic>
      <p:pic>
        <p:nvPicPr>
          <p:cNvPr id="9" name="Diversity_Self_care_slide_26">
            <a:hlinkClick r:id="" action="ppaction://media"/>
            <a:extLst>
              <a:ext uri="{FF2B5EF4-FFF2-40B4-BE49-F238E27FC236}">
                <a16:creationId xmlns:a16="http://schemas.microsoft.com/office/drawing/2014/main" id="{2528EEDD-2764-4D95-BAB4-AC44ACE96B2B}"/>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4830775" y="1551622"/>
            <a:ext cx="6675120" cy="3754755"/>
          </a:xfrm>
          <a:prstGeom prst="roundRect">
            <a:avLst>
              <a:gd name="adj" fmla="val 5000"/>
            </a:avLst>
          </a:prstGeom>
        </p:spPr>
      </p:pic>
      <p:sp>
        <p:nvSpPr>
          <p:cNvPr id="14" name="Title"/>
          <p:cNvSpPr txBox="1"/>
          <p:nvPr/>
        </p:nvSpPr>
        <p:spPr>
          <a:xfrm>
            <a:off x="685800" y="2740342"/>
            <a:ext cx="3687775" cy="1463040"/>
          </a:xfrm>
          <a:prstGeom prst="rect">
            <a:avLst/>
          </a:prstGeom>
          <a:noFill/>
        </p:spPr>
        <p:txBody>
          <a:bodyPr wrap="square" lIns="0" tIns="0" rIns="0" bIns="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Student voice</a:t>
            </a:r>
          </a:p>
        </p:txBody>
      </p:sp>
      <p:sp>
        <p:nvSpPr>
          <p:cNvPr id="15" name="Rounded Rectangle 14"/>
          <p:cNvSpPr/>
          <p:nvPr/>
        </p:nvSpPr>
        <p:spPr>
          <a:xfrm>
            <a:off x="685800" y="4218242"/>
            <a:ext cx="3687775" cy="1088136"/>
          </a:xfrm>
          <a:prstGeom prst="roundRect">
            <a:avLst>
              <a:gd name="adj" fmla="val 10000"/>
            </a:avLst>
          </a:prstGeom>
          <a:solidFill>
            <a:srgbClr val="F3F0FA"/>
          </a:solidFill>
          <a:ln>
            <a:noFill/>
          </a:ln>
        </p:spPr>
        <p:txBody>
          <a:bodyPr rtlCol="0" anchor="ctr"/>
          <a:lstStyle/>
          <a:p>
            <a:pPr algn="ctr"/>
            <a:endParaRPr/>
          </a:p>
        </p:txBody>
      </p:sp>
      <p:sp>
        <p:nvSpPr>
          <p:cNvPr id="16" name="TextBox 15"/>
          <p:cNvSpPr txBox="1"/>
          <p:nvPr/>
        </p:nvSpPr>
        <p:spPr>
          <a:xfrm>
            <a:off x="914400" y="4218242"/>
            <a:ext cx="3230575" cy="1088136"/>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What decisions were made, and who made them?</a:t>
            </a:r>
          </a:p>
          <a:p>
            <a:pPr marL="0" indent="0" algn="l">
              <a:lnSpc>
                <a:spcPct val="100000"/>
              </a:lnSpc>
              <a:spcBef>
                <a:spcPts val="400"/>
              </a:spcBef>
              <a:buNone/>
            </a:pPr>
            <a:r>
              <a:rPr lang="en-AU" sz="1600" b="1">
                <a:solidFill>
                  <a:srgbClr val="3D2A6B"/>
                </a:solidFill>
                <a:latin typeface="Arial"/>
                <a:ea typeface="Arial"/>
                <a:cs typeface="Arial"/>
              </a:rPr>
              <a:t>What impact did those decisions have on Adon?</a:t>
            </a:r>
          </a:p>
        </p:txBody>
      </p:sp>
    </p:spTree>
    <p:custDataLst>
      <p:tags r:id="rId1"/>
    </p:custDataLst>
    <p:extLst>
      <p:ext uri="{BB962C8B-B14F-4D97-AF65-F5344CB8AC3E}">
        <p14:creationId xmlns:p14="http://schemas.microsoft.com/office/powerpoint/2010/main" val="374705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Consultation literacy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Useful consultation includes:</a:t>
            </a:r>
          </a:p>
        </p:txBody>
      </p:sp>
      <p:sp>
        <p:nvSpPr>
          <p:cNvPr id="4" name="Rounded Rectangle 3"/>
          <p:cNvSpPr/>
          <p:nvPr/>
        </p:nvSpPr>
        <p:spPr>
          <a:xfrm>
            <a:off x="685800"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 clear, shared purpose</a:t>
            </a:r>
          </a:p>
        </p:txBody>
      </p:sp>
      <p:sp>
        <p:nvSpPr>
          <p:cNvPr id="6" name="Rounded Rectangle 5"/>
          <p:cNvSpPr/>
          <p:nvPr/>
        </p:nvSpPr>
        <p:spPr>
          <a:xfrm>
            <a:off x="4368698"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Open questions</a:t>
            </a:r>
          </a:p>
        </p:txBody>
      </p:sp>
      <p:sp>
        <p:nvSpPr>
          <p:cNvPr id="8" name="Rounded Rectangle 7"/>
          <p:cNvSpPr/>
          <p:nvPr/>
        </p:nvSpPr>
        <p:spPr>
          <a:xfrm>
            <a:off x="8051597"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More than one way to contribute</a:t>
            </a:r>
          </a:p>
        </p:txBody>
      </p:sp>
      <p:sp>
        <p:nvSpPr>
          <p:cNvPr id="10" name="Rounded Rectangle 9"/>
          <p:cNvSpPr/>
          <p:nvPr/>
        </p:nvSpPr>
        <p:spPr>
          <a:xfrm>
            <a:off x="685800"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Respect for your knowledge and your young person's</a:t>
            </a:r>
          </a:p>
        </p:txBody>
      </p:sp>
      <p:sp>
        <p:nvSpPr>
          <p:cNvPr id="12" name="Rounded Rectangle 11"/>
          <p:cNvSpPr/>
          <p:nvPr/>
        </p:nvSpPr>
        <p:spPr>
          <a:xfrm>
            <a:off x="4368698"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Accurate recording of what was heard</a:t>
            </a:r>
          </a:p>
        </p:txBody>
      </p:sp>
      <p:sp>
        <p:nvSpPr>
          <p:cNvPr id="14" name="Rounded Rectangle 13"/>
          <p:cNvSpPr/>
          <p:nvPr/>
        </p:nvSpPr>
        <p:spPr>
          <a:xfrm>
            <a:off x="8051597"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An agreed action, responsibility and follow-up</a:t>
            </a:r>
          </a:p>
        </p:txBody>
      </p:sp>
      <p:sp>
        <p:nvSpPr>
          <p:cNvPr id="16" name="Rounded Rectangle 15"/>
          <p:cNvSpPr/>
          <p:nvPr/>
        </p:nvSpPr>
        <p:spPr>
          <a:xfrm>
            <a:off x="685800" y="50749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7" name="TextBox 16"/>
          <p:cNvSpPr txBox="1"/>
          <p:nvPr/>
        </p:nvSpPr>
        <p:spPr>
          <a:xfrm>
            <a:off x="960120" y="50749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Ask, listen, and follow 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Who to contact for what</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Secondary schools have more people and more systems. It helps to know who does what.</a:t>
            </a:r>
          </a:p>
        </p:txBody>
      </p:sp>
      <p:sp>
        <p:nvSpPr>
          <p:cNvPr id="5" name="Rounded Rectangle 4"/>
          <p:cNvSpPr/>
          <p:nvPr/>
        </p:nvSpPr>
        <p:spPr>
          <a:xfrm>
            <a:off x="685800" y="2103120"/>
            <a:ext cx="2554148" cy="274320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Day to day</a:t>
            </a:r>
          </a:p>
          <a:p>
            <a:pPr algn="l" marL="0" indent="0">
              <a:lnSpc>
                <a:spcPct val="100000"/>
              </a:lnSpc>
              <a:spcBef>
                <a:spcPts val="800"/>
              </a:spcBef>
              <a:buNone/>
            </a:pPr>
            <a:r>
              <a:rPr lang="en-AU" sz="1700" b="0">
                <a:solidFill>
                  <a:srgbClr val="3D2A6B"/>
                </a:solidFill>
                <a:latin typeface="Arial"/>
                <a:ea typeface="Arial"/>
                <a:cs typeface="Arial"/>
              </a:rPr>
              <a:t>Home room or pastoral care teacher, or year level coordinator.</a:t>
            </a:r>
          </a:p>
        </p:txBody>
      </p:sp>
      <p:sp>
        <p:nvSpPr>
          <p:cNvPr id="7" name="Rounded Rectangle 6"/>
          <p:cNvSpPr/>
          <p:nvPr/>
        </p:nvSpPr>
        <p:spPr>
          <a:xfrm>
            <a:off x="3441116" y="2103120"/>
            <a:ext cx="2554148" cy="274320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Learning and adjustments</a:t>
            </a:r>
          </a:p>
          <a:p>
            <a:pPr algn="l" marL="0" indent="0">
              <a:lnSpc>
                <a:spcPct val="100000"/>
              </a:lnSpc>
              <a:spcBef>
                <a:spcPts val="800"/>
              </a:spcBef>
              <a:buNone/>
            </a:pPr>
            <a:r>
              <a:rPr lang="en-AU" sz="1700" b="0">
                <a:solidFill>
                  <a:srgbClr val="3D2A6B"/>
                </a:solidFill>
                <a:latin typeface="Arial"/>
                <a:ea typeface="Arial"/>
                <a:cs typeface="Arial"/>
              </a:rPr>
              <a:t>Learning support or inclusion team.</a:t>
            </a:r>
          </a:p>
        </p:txBody>
      </p:sp>
      <p:sp>
        <p:nvSpPr>
          <p:cNvPr id="9" name="Rounded Rectangle 8"/>
          <p:cNvSpPr/>
          <p:nvPr/>
        </p:nvSpPr>
        <p:spPr>
          <a:xfrm>
            <a:off x="6196432" y="2103120"/>
            <a:ext cx="2554148" cy="274320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Wellbeing</a:t>
            </a:r>
          </a:p>
          <a:p>
            <a:pPr algn="l" marL="0" indent="0">
              <a:lnSpc>
                <a:spcPct val="100000"/>
              </a:lnSpc>
              <a:spcBef>
                <a:spcPts val="800"/>
              </a:spcBef>
              <a:buNone/>
            </a:pPr>
            <a:r>
              <a:rPr lang="en-AU" sz="1700" b="0">
                <a:solidFill>
                  <a:srgbClr val="3D2A6B"/>
                </a:solidFill>
                <a:latin typeface="Arial"/>
                <a:ea typeface="Arial"/>
                <a:cs typeface="Arial"/>
              </a:rPr>
              <a:t>Wellbeing staff, school counsellor or psychologist.</a:t>
            </a:r>
          </a:p>
        </p:txBody>
      </p:sp>
      <p:sp>
        <p:nvSpPr>
          <p:cNvPr id="11" name="Rounded Rectangle 10"/>
          <p:cNvSpPr/>
          <p:nvPr/>
        </p:nvSpPr>
        <p:spPr>
          <a:xfrm>
            <a:off x="8951747" y="2103120"/>
            <a:ext cx="2554148" cy="274320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Information</a:t>
            </a:r>
          </a:p>
          <a:p>
            <a:pPr algn="l" marL="0" indent="0">
              <a:lnSpc>
                <a:spcPct val="100000"/>
              </a:lnSpc>
              <a:spcBef>
                <a:spcPts val="800"/>
              </a:spcBef>
              <a:buNone/>
            </a:pPr>
            <a:r>
              <a:rPr lang="en-AU" sz="1700" b="0">
                <a:solidFill>
                  <a:srgbClr val="3D2A6B"/>
                </a:solidFill>
                <a:latin typeface="Arial"/>
                <a:ea typeface="Arial"/>
                <a:cs typeface="Arial"/>
              </a:rPr>
              <a:t>The school portal or app for timetables, tasks and messages.</a:t>
            </a:r>
          </a:p>
        </p:txBody>
      </p:sp>
      <p:sp>
        <p:nvSpPr>
          <p:cNvPr id="13" name="Rounded Rectangle 12"/>
          <p:cNvSpPr/>
          <p:nvPr/>
        </p:nvSpPr>
        <p:spPr>
          <a:xfrm>
            <a:off x="685800" y="512064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12064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Ask for one main contact person, and how best to reach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Adolescents in their own meetings</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From being talked about, to taking part and, over time, leading.</a:t>
            </a:r>
          </a:p>
        </p:txBody>
      </p:sp>
      <p:sp>
        <p:nvSpPr>
          <p:cNvPr id="5" name="Rounded Rectangle 4"/>
          <p:cNvSpPr/>
          <p:nvPr/>
        </p:nvSpPr>
        <p:spPr>
          <a:xfrm>
            <a:off x="685800" y="2103120"/>
            <a:ext cx="2554148" cy="265176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Prepared and supported</a:t>
            </a:r>
          </a:p>
          <a:p>
            <a:pPr algn="l" marL="0" indent="0">
              <a:lnSpc>
                <a:spcPct val="100000"/>
              </a:lnSpc>
              <a:spcBef>
                <a:spcPts val="800"/>
              </a:spcBef>
              <a:buNone/>
            </a:pPr>
            <a:r>
              <a:rPr lang="en-AU" sz="1700" b="0">
                <a:solidFill>
                  <a:srgbClr val="3D2A6B"/>
                </a:solidFill>
                <a:latin typeface="Arial"/>
                <a:ea typeface="Arial"/>
                <a:cs typeface="Arial"/>
              </a:rPr>
              <a:t>to take part in their own way: in person, in writing, through a trusted adult.</a:t>
            </a:r>
          </a:p>
        </p:txBody>
      </p:sp>
      <p:sp>
        <p:nvSpPr>
          <p:cNvPr id="7" name="Rounded Rectangle 6"/>
          <p:cNvSpPr/>
          <p:nvPr/>
        </p:nvSpPr>
        <p:spPr>
          <a:xfrm>
            <a:off x="3441116" y="2103120"/>
            <a:ext cx="2554148" cy="265176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Taking more of a lead</a:t>
            </a:r>
          </a:p>
          <a:p>
            <a:pPr algn="l" marL="0" indent="0">
              <a:lnSpc>
                <a:spcPct val="100000"/>
              </a:lnSpc>
              <a:spcBef>
                <a:spcPts val="800"/>
              </a:spcBef>
              <a:buNone/>
            </a:pPr>
            <a:r>
              <a:rPr lang="en-AU" sz="1700" b="0">
                <a:solidFill>
                  <a:srgbClr val="3D2A6B"/>
                </a:solidFill>
                <a:latin typeface="Arial"/>
                <a:ea typeface="Arial"/>
                <a:cs typeface="Arial"/>
              </a:rPr>
              <a:t>their own meetings as they move through secondary school.</a:t>
            </a:r>
          </a:p>
        </p:txBody>
      </p:sp>
      <p:sp>
        <p:nvSpPr>
          <p:cNvPr id="9" name="Rounded Rectangle 8"/>
          <p:cNvSpPr/>
          <p:nvPr/>
        </p:nvSpPr>
        <p:spPr>
          <a:xfrm>
            <a:off x="6196432" y="2103120"/>
            <a:ext cx="2554148" cy="265176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Speaking up for themselves</a:t>
            </a:r>
          </a:p>
          <a:p>
            <a:pPr algn="l" marL="0" indent="0">
              <a:lnSpc>
                <a:spcPct val="100000"/>
              </a:lnSpc>
              <a:spcBef>
                <a:spcPts val="800"/>
              </a:spcBef>
              <a:buNone/>
            </a:pPr>
            <a:r>
              <a:rPr lang="en-AU" sz="1700" b="0">
                <a:solidFill>
                  <a:srgbClr val="3D2A6B"/>
                </a:solidFill>
                <a:latin typeface="Arial"/>
                <a:ea typeface="Arial"/>
                <a:cs typeface="Arial"/>
              </a:rPr>
              <a:t>is practice for senior school, work and life after school.</a:t>
            </a:r>
          </a:p>
        </p:txBody>
      </p:sp>
      <p:sp>
        <p:nvSpPr>
          <p:cNvPr id="11" name="Rounded Rectangle 10"/>
          <p:cNvSpPr/>
          <p:nvPr/>
        </p:nvSpPr>
        <p:spPr>
          <a:xfrm>
            <a:off x="8951747" y="2103120"/>
            <a:ext cx="2554148" cy="265176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Their say matters</a:t>
            </a:r>
          </a:p>
          <a:p>
            <a:pPr algn="l" marL="0" indent="0">
              <a:lnSpc>
                <a:spcPct val="100000"/>
              </a:lnSpc>
              <a:spcBef>
                <a:spcPts val="800"/>
              </a:spcBef>
              <a:buNone/>
            </a:pPr>
            <a:r>
              <a:rPr lang="en-AU" sz="1700" b="0">
                <a:solidFill>
                  <a:srgbClr val="3D2A6B"/>
                </a:solidFill>
                <a:latin typeface="Arial"/>
                <a:ea typeface="Arial"/>
                <a:cs typeface="Arial"/>
              </a:rPr>
              <a:t>in decisions about their own learning and support.</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25780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Where you can, help your young person be part of the conversation.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BFB307-C748-4190-B8CD-319D0F096407}"/>
              </a:ext>
            </a:extLst>
          </p:cNvPr>
          <p:cNvSpPr txBox="1">
            <a:spLocks/>
          </p:cNvSpPr>
          <p:nvPr/>
        </p:nvSpPr>
        <p:spPr>
          <a:xfrm>
            <a:off x="6309360" y="457200"/>
            <a:ext cx="5196535"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r">
              <a:lnSpc>
                <a:spcPct val="100000"/>
              </a:lnSpc>
              <a:spcBef>
                <a:spcPts val="0"/>
              </a:spcBef>
              <a:buNone/>
            </a:pPr>
            <a:r>
              <a:rPr lang="en-AU" sz="3600" b="0">
                <a:solidFill>
                  <a:srgbClr val="584099"/>
                </a:solidFill>
                <a:latin typeface="Arial Black"/>
                <a:ea typeface="Arial Black"/>
                <a:cs typeface="Arial Black"/>
              </a:rPr>
              <a:t>Partnership tools</a:t>
            </a:r>
          </a:p>
        </p:txBody>
      </p:sp>
      <p:pic>
        <p:nvPicPr>
          <p:cNvPr id="5" name="Picture 4"/>
          <p:cNvPicPr>
            <a:picLocks noChangeAspect="1"/>
          </p:cNvPicPr>
          <p:nvPr/>
        </p:nvPicPr>
        <p:blipFill rotWithShape="1">
          <a:blip r:embed="rId3"/>
          <a:srcRect l="-2850" t="-3367" r="-2431" b="1"/>
          <a:stretch/>
        </p:blipFill>
        <p:spPr>
          <a:xfrm rot="474070">
            <a:off x="5401381" y="1708714"/>
            <a:ext cx="6048605" cy="38713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3" name="Picture 2">
            <a:extLst>
              <a:ext uri="{FF2B5EF4-FFF2-40B4-BE49-F238E27FC236}">
                <a16:creationId xmlns:a16="http://schemas.microsoft.com/office/drawing/2014/main" id="{9937E829-43C9-4A63-A885-D69DCA04E947}"/>
              </a:ext>
            </a:extLst>
          </p:cNvPr>
          <p:cNvPicPr>
            <a:picLocks noChangeAspect="1"/>
          </p:cNvPicPr>
          <p:nvPr/>
        </p:nvPicPr>
        <p:blipFill>
          <a:blip r:embed="rId4"/>
          <a:stretch>
            <a:fillRect/>
          </a:stretch>
        </p:blipFill>
        <p:spPr>
          <a:xfrm rot="21295906">
            <a:off x="1264142" y="536121"/>
            <a:ext cx="4069586" cy="5785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873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9AB3-31EC-27A9-8206-7C0BE658E8B7}"/>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NCCD Meetings Tool Kit</a:t>
            </a:r>
          </a:p>
        </p:txBody>
      </p:sp>
      <p:pic>
        <p:nvPicPr>
          <p:cNvPr id="4" name="Content Placeholder 3">
            <a:extLst>
              <a:ext uri="{FF2B5EF4-FFF2-40B4-BE49-F238E27FC236}">
                <a16:creationId xmlns:a16="http://schemas.microsoft.com/office/drawing/2014/main" id="{A5C575AF-C7D4-085E-94F7-3A72A52D6DAC}"/>
              </a:ext>
            </a:extLst>
          </p:cNvPr>
          <p:cNvPicPr>
            <a:picLocks noGrp="1" noChangeAspect="1"/>
          </p:cNvPicPr>
          <p:nvPr>
            <p:ph idx="1"/>
          </p:nvPr>
        </p:nvPicPr>
        <p:blipFill>
          <a:blip r:embed="rId3"/>
          <a:stretch>
            <a:fillRect/>
          </a:stretch>
        </p:blipFill>
        <p:spPr>
          <a:xfrm>
            <a:off x="5486400" y="1463040"/>
            <a:ext cx="6019495" cy="3017520"/>
          </a:xfrm>
          <a:prstGeom prst="rect">
            <a:avLst/>
          </a:prstGeom>
          <a:ln w="12700">
            <a:solidFill>
              <a:schemeClr val="tx1"/>
            </a:solidFill>
          </a:ln>
        </p:spPr>
      </p:pic>
      <p:pic>
        <p:nvPicPr>
          <p:cNvPr id="5" name="Picture 4">
            <a:extLst>
              <a:ext uri="{FF2B5EF4-FFF2-40B4-BE49-F238E27FC236}">
                <a16:creationId xmlns:a16="http://schemas.microsoft.com/office/drawing/2014/main" id="{C27A36B8-FF2A-0D74-971A-0E4E85BADCA9}"/>
              </a:ext>
            </a:extLst>
          </p:cNvPr>
          <p:cNvPicPr>
            <a:picLocks noChangeAspect="1"/>
          </p:cNvPicPr>
          <p:nvPr/>
        </p:nvPicPr>
        <p:blipFill>
          <a:blip r:embed="rId4"/>
          <a:stretch>
            <a:fillRect/>
          </a:stretch>
        </p:blipFill>
        <p:spPr>
          <a:xfrm>
            <a:off x="6675120" y="3566160"/>
            <a:ext cx="4830775" cy="2240280"/>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6" name="Rounded Rectangle 5"/>
          <p:cNvSpPr/>
          <p:nvPr/>
        </p:nvSpPr>
        <p:spPr>
          <a:xfrm>
            <a:off x="685800" y="1463040"/>
            <a:ext cx="4480560" cy="4480560"/>
          </a:xfrm>
          <a:prstGeom prst="roundRect">
            <a:avLst>
              <a:gd name="adj" fmla="val 7000"/>
            </a:avLst>
          </a:prstGeom>
          <a:solidFill>
            <a:srgbClr val="F3F0FA"/>
          </a:solidFill>
          <a:ln>
            <a:noFill/>
          </a:ln>
        </p:spPr>
        <p:txBody>
          <a:bodyPr rtlCol="0" anchor="ctr"/>
          <a:lstStyle/>
          <a:p>
            <a:pPr algn="ctr"/>
            <a:endParaRPr/>
          </a:p>
        </p:txBody>
      </p:sp>
      <p:sp>
        <p:nvSpPr>
          <p:cNvPr id="7" name="TextBox 6"/>
          <p:cNvSpPr txBox="1"/>
          <p:nvPr/>
        </p:nvSpPr>
        <p:spPr>
          <a:xfrm>
            <a:off x="1005840" y="1463040"/>
            <a:ext cx="3840480" cy="4480560"/>
          </a:xfrm>
          <a:prstGeom prst="rect">
            <a:avLst/>
          </a:prstGeom>
          <a:noFill/>
        </p:spPr>
        <p:txBody>
          <a:bodyPr wrap="square" lIns="0" tIns="0" rIns="0" bIns="0" anchor="ctr">
            <a:noAutofit/>
          </a:bodyPr>
          <a:lstStyle/>
          <a:p>
            <a:pPr marL="0" indent="0" algn="l">
              <a:lnSpc>
                <a:spcPct val="110000"/>
              </a:lnSpc>
              <a:spcBef>
                <a:spcPts val="0"/>
              </a:spcBef>
              <a:buNone/>
            </a:pPr>
            <a:r>
              <a:rPr lang="en-AU" sz="1800" b="0">
                <a:solidFill>
                  <a:srgbClr val="3D2A6B"/>
                </a:solidFill>
                <a:latin typeface="Arial"/>
                <a:ea typeface="Arial"/>
                <a:cs typeface="Arial"/>
              </a:rPr>
              <a:t>A free tool kit to help families and schools prepare for meetings about adjustments: before, during and after the meeting.</a:t>
            </a:r>
          </a:p>
        </p:txBody>
      </p:sp>
    </p:spTree>
    <p:extLst>
      <p:ext uri="{BB962C8B-B14F-4D97-AF65-F5344CB8AC3E}">
        <p14:creationId xmlns:p14="http://schemas.microsoft.com/office/powerpoint/2010/main" val="3674033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AB5F87-071D-404A-980A-F2281B7B03AC}"/>
              </a:ext>
            </a:extLst>
          </p:cNvPr>
          <p:cNvPicPr>
            <a:picLocks noChangeAspect="1"/>
          </p:cNvPicPr>
          <p:nvPr/>
        </p:nvPicPr>
        <p:blipFill>
          <a:blip r:embed="rId4"/>
          <a:stretch>
            <a:fillRect/>
          </a:stretch>
        </p:blipFill>
        <p:spPr>
          <a:xfrm>
            <a:off x="5440680" y="1097280"/>
            <a:ext cx="6218675" cy="2877012"/>
          </a:xfrm>
          <a:prstGeom prst="rect">
            <a:avLst/>
          </a:prstGeom>
        </p:spPr>
      </p:pic>
      <p:sp>
        <p:nvSpPr>
          <p:cNvPr id="9" name="TextBox 1"/>
          <p:cNvSpPr txBox="1">
            <a:spLocks noChangeArrowheads="1"/>
          </p:cNvSpPr>
          <p:nvPr/>
        </p:nvSpPr>
        <p:spPr bwMode="auto">
          <a:xfrm>
            <a:off x="685800" y="457200"/>
            <a:ext cx="3108960" cy="1828800"/>
          </a:xfrm>
          <a:prstGeom prst="rect">
            <a:avLst/>
          </a:prstGeom>
        </p:spPr>
        <p:txBody>
          <a:bodyPr wrap="square" lIns="0" tIns="0" rIns="0" bIns="0" anchor="t">
            <a:noAutofit/>
          </a:bodyPr>
          <a:lstStyle>
            <a:defPPr>
              <a:defRPr lang="en-US"/>
            </a:defPPr>
            <a:lvl1pPr>
              <a:defRPr sz="4400" b="1">
                <a:solidFill>
                  <a:srgbClr val="BBD64A"/>
                </a:solidFill>
                <a:latin typeface="Arial Black" panose="020B0A04020102020204" pitchFamily="34" charset="0"/>
              </a:defRPr>
            </a:lvl1pPr>
          </a:lstStyle>
          <a:p>
            <a:pPr marL="0" indent="0" algn="l">
              <a:lnSpc>
                <a:spcPct val="95000"/>
              </a:lnSpc>
              <a:spcBef>
                <a:spcPts val="0"/>
              </a:spcBef>
              <a:buNone/>
            </a:pPr>
            <a:r>
              <a:rPr lang="en-AU" sz="3200" b="0">
                <a:solidFill>
                  <a:srgbClr val="584099"/>
                </a:solidFill>
                <a:latin typeface="Arial Black"/>
                <a:ea typeface="Arial Black"/>
                <a:cs typeface="Arial Black"/>
              </a:rPr>
              <a:t>Other practical supports</a:t>
            </a:r>
          </a:p>
        </p:txBody>
      </p:sp>
      <p:pic>
        <p:nvPicPr>
          <p:cNvPr id="3" name="Picture 2">
            <a:extLst>
              <a:ext uri="{FF2B5EF4-FFF2-40B4-BE49-F238E27FC236}">
                <a16:creationId xmlns:a16="http://schemas.microsoft.com/office/drawing/2014/main" id="{3DB99A03-8A97-4FE0-A7C3-EE23BB83DC5F}"/>
              </a:ext>
            </a:extLst>
          </p:cNvPr>
          <p:cNvPicPr>
            <a:picLocks noChangeAspect="1"/>
          </p:cNvPicPr>
          <p:nvPr/>
        </p:nvPicPr>
        <p:blipFill>
          <a:blip r:embed="rId5"/>
          <a:stretch>
            <a:fillRect/>
          </a:stretch>
        </p:blipFill>
        <p:spPr>
          <a:xfrm>
            <a:off x="5378125" y="5026533"/>
            <a:ext cx="2686050" cy="1123950"/>
          </a:xfrm>
          <a:prstGeom prst="rect">
            <a:avLst/>
          </a:prstGeom>
        </p:spPr>
      </p:pic>
      <p:pic>
        <p:nvPicPr>
          <p:cNvPr id="4" name="Picture 3">
            <a:extLst>
              <a:ext uri="{FF2B5EF4-FFF2-40B4-BE49-F238E27FC236}">
                <a16:creationId xmlns:a16="http://schemas.microsoft.com/office/drawing/2014/main" id="{FAC9DECC-D55E-40AE-B8AC-04D7790C5A76}"/>
              </a:ext>
            </a:extLst>
          </p:cNvPr>
          <p:cNvPicPr>
            <a:picLocks noChangeAspect="1"/>
          </p:cNvPicPr>
          <p:nvPr/>
        </p:nvPicPr>
        <p:blipFill>
          <a:blip r:embed="rId6"/>
          <a:stretch>
            <a:fillRect/>
          </a:stretch>
        </p:blipFill>
        <p:spPr>
          <a:xfrm>
            <a:off x="7989775" y="4989207"/>
            <a:ext cx="3726997" cy="1437208"/>
          </a:xfrm>
          <a:prstGeom prst="rect">
            <a:avLst/>
          </a:prstGeom>
        </p:spPr>
      </p:pic>
      <p:pic>
        <p:nvPicPr>
          <p:cNvPr id="7" name="Picture 6">
            <a:extLst>
              <a:ext uri="{FF2B5EF4-FFF2-40B4-BE49-F238E27FC236}">
                <a16:creationId xmlns:a16="http://schemas.microsoft.com/office/drawing/2014/main" id="{7C84697F-26B5-4810-B0E5-ED47D75ABC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14587" y="4914304"/>
            <a:ext cx="3378775" cy="911310"/>
          </a:xfrm>
          <a:prstGeom prst="rect">
            <a:avLst/>
          </a:prstGeom>
        </p:spPr>
      </p:pic>
      <p:pic>
        <p:nvPicPr>
          <p:cNvPr id="11" name="Picture 10">
            <a:extLst>
              <a:ext uri="{FF2B5EF4-FFF2-40B4-BE49-F238E27FC236}">
                <a16:creationId xmlns:a16="http://schemas.microsoft.com/office/drawing/2014/main" id="{8203F3AC-DC1E-46D5-8169-88AF76468301}"/>
              </a:ext>
            </a:extLst>
          </p:cNvPr>
          <p:cNvPicPr>
            <a:picLocks noChangeAspect="1"/>
          </p:cNvPicPr>
          <p:nvPr/>
        </p:nvPicPr>
        <p:blipFill>
          <a:blip r:embed="rId8"/>
          <a:stretch>
            <a:fillRect/>
          </a:stretch>
        </p:blipFill>
        <p:spPr>
          <a:xfrm>
            <a:off x="1579975" y="5752462"/>
            <a:ext cx="3048000" cy="581025"/>
          </a:xfrm>
          <a:prstGeom prst="rect">
            <a:avLst/>
          </a:prstGeom>
        </p:spPr>
      </p:pic>
      <p:sp>
        <p:nvSpPr>
          <p:cNvPr id="12" name="Support lines"/>
          <p:cNvSpPr txBox="1"/>
          <p:nvPr/>
        </p:nvSpPr>
        <p:spPr>
          <a:xfrm>
            <a:off x="685800" y="2331720"/>
            <a:ext cx="4480560" cy="2377440"/>
          </a:xfrm>
          <a:prstGeom prst="rect">
            <a:avLst/>
          </a:prstGeom>
          <a:noFill/>
        </p:spPr>
        <p:txBody>
          <a:bodyPr wrap="square" lIns="0" tIns="0" rIns="0" bIns="0">
            <a:spAutoFit/>
          </a:bodyPr>
          <a:lstStyle/>
          <a:p>
            <a:pPr>
              <a:spcBef>
                <a:spcPts val="0"/>
              </a:spcBef>
            </a:pPr>
            <a:r>
              <a:rPr sz="1800" b="1">
                <a:solidFill>
                  <a:srgbClr val="584099"/>
                </a:solidFill>
                <a:latin typeface="Arial"/>
              </a:rPr>
              <a:t>Youth mental health and crisis support</a:t>
            </a:r>
          </a:p>
          <a:p>
            <a:pPr>
              <a:spcBef>
                <a:spcPts val="800"/>
              </a:spcBef>
            </a:pPr>
            <a:r>
              <a:rPr sz="1600" b="1">
                <a:solidFill>
                  <a:srgbClr val="3D2A6B"/>
                </a:solidFill>
                <a:latin typeface="Arial"/>
              </a:rPr>
              <a:t>Kids Helpline 1800 55 1800</a:t>
            </a:r>
          </a:p>
          <a:p>
            <a:pPr>
              <a:spcBef>
                <a:spcPts val="0"/>
              </a:spcBef>
            </a:pPr>
            <a:r>
              <a:rPr sz="1400" b="0">
                <a:solidFill>
                  <a:srgbClr val="3D2A6B"/>
                </a:solidFill>
                <a:latin typeface="Arial"/>
              </a:rPr>
              <a:t>Ages 5-25, and parents</a:t>
            </a:r>
          </a:p>
          <a:p>
            <a:pPr>
              <a:spcBef>
                <a:spcPts val="800"/>
              </a:spcBef>
            </a:pPr>
            <a:r>
              <a:rPr sz="1600" b="1">
                <a:solidFill>
                  <a:srgbClr val="3D2A6B"/>
                </a:solidFill>
                <a:latin typeface="Arial"/>
              </a:rPr>
              <a:t>headspace.org.au</a:t>
            </a:r>
          </a:p>
          <a:p>
            <a:pPr>
              <a:spcBef>
                <a:spcPts val="0"/>
              </a:spcBef>
            </a:pPr>
            <a:r>
              <a:rPr sz="1400" b="0">
                <a:solidFill>
                  <a:srgbClr val="3D2A6B"/>
                </a:solidFill>
                <a:latin typeface="Arial"/>
              </a:rPr>
              <a:t>Ages 12-25</a:t>
            </a:r>
          </a:p>
          <a:p>
            <a:pPr>
              <a:spcBef>
                <a:spcPts val="800"/>
              </a:spcBef>
            </a:pPr>
            <a:r>
              <a:rPr sz="1600" b="1">
                <a:solidFill>
                  <a:srgbClr val="3D2A6B"/>
                </a:solidFill>
                <a:latin typeface="Arial"/>
              </a:rPr>
              <a:t>Lifeline 13 11 14</a:t>
            </a:r>
          </a:p>
          <a:p>
            <a:pPr>
              <a:spcBef>
                <a:spcPts val="0"/>
              </a:spcBef>
            </a:pPr>
            <a:r>
              <a:rPr sz="1400" b="0">
                <a:solidFill>
                  <a:srgbClr val="3D2A6B"/>
                </a:solidFill>
                <a:latin typeface="Arial"/>
              </a:rPr>
              <a:t>24-hour crisis support</a:t>
            </a:r>
          </a:p>
        </p:txBody>
      </p:sp>
    </p:spTree>
    <p:custDataLst>
      <p:tags r:id="rId1"/>
    </p:custDataLst>
    <p:extLst>
      <p:ext uri="{BB962C8B-B14F-4D97-AF65-F5344CB8AC3E}">
        <p14:creationId xmlns:p14="http://schemas.microsoft.com/office/powerpoint/2010/main" val="302451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Transition planning starts early</a:t>
            </a:r>
          </a:p>
        </p:txBody>
      </p:sp>
      <p:sp>
        <p:nvSpPr>
          <p:cNvPr id="4" name="Rounded Rectangle 3"/>
          <p:cNvSpPr/>
          <p:nvPr/>
        </p:nvSpPr>
        <p:spPr>
          <a:xfrm>
            <a:off x="685800" y="1371600"/>
            <a:ext cx="3472586" cy="283464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2923946" cy="23774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Senior years</a:t>
            </a:r>
          </a:p>
          <a:p>
            <a:pPr algn="l" marL="0" indent="0">
              <a:lnSpc>
                <a:spcPct val="100000"/>
              </a:lnSpc>
              <a:spcBef>
                <a:spcPts val="800"/>
              </a:spcBef>
              <a:buNone/>
            </a:pPr>
            <a:r>
              <a:rPr lang="en-AU" sz="1800" b="0">
                <a:solidFill>
                  <a:srgbClr val="3D2A6B"/>
                </a:solidFill>
                <a:latin typeface="Arial"/>
                <a:ea typeface="Arial"/>
                <a:cs typeface="Arial"/>
              </a:rPr>
              <a:t>Subject choices and pathways shape what comes next. Start talking in the middle years.</a:t>
            </a:r>
          </a:p>
        </p:txBody>
      </p:sp>
      <p:sp>
        <p:nvSpPr>
          <p:cNvPr id="6" name="Rounded Rectangle 5"/>
          <p:cNvSpPr/>
          <p:nvPr/>
        </p:nvSpPr>
        <p:spPr>
          <a:xfrm>
            <a:off x="4359554" y="1371600"/>
            <a:ext cx="3472586" cy="283464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4633874" y="1645920"/>
            <a:ext cx="2923946" cy="23774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After school</a:t>
            </a:r>
          </a:p>
          <a:p>
            <a:pPr algn="l" marL="0" indent="0">
              <a:lnSpc>
                <a:spcPct val="100000"/>
              </a:lnSpc>
              <a:spcBef>
                <a:spcPts val="800"/>
              </a:spcBef>
              <a:buNone/>
            </a:pPr>
            <a:r>
              <a:rPr lang="en-AU" sz="1800" b="0">
                <a:solidFill>
                  <a:srgbClr val="3D2A6B"/>
                </a:solidFill>
                <a:latin typeface="Arial"/>
                <a:ea typeface="Arial"/>
                <a:cs typeface="Arial"/>
              </a:rPr>
              <a:t>Further study, training, work and other options. Include your young person in every step.</a:t>
            </a:r>
          </a:p>
        </p:txBody>
      </p:sp>
      <p:sp>
        <p:nvSpPr>
          <p:cNvPr id="8" name="Rounded Rectangle 7"/>
          <p:cNvSpPr/>
          <p:nvPr/>
        </p:nvSpPr>
        <p:spPr>
          <a:xfrm>
            <a:off x="8033309" y="1371600"/>
            <a:ext cx="3472586" cy="2834640"/>
          </a:xfrm>
          <a:prstGeom prst="roundRect">
            <a:avLst>
              <a:gd name="adj" fmla="val 10000"/>
            </a:avLst>
          </a:prstGeom>
          <a:solidFill>
            <a:srgbClr val="F3F0FA"/>
          </a:solidFill>
          <a:ln>
            <a:noFill/>
          </a:ln>
        </p:spPr>
        <p:txBody>
          <a:bodyPr rtlCol="0" anchor="ctr"/>
          <a:lstStyle/>
          <a:p>
            <a:pPr algn="ctr"/>
          </a:p>
        </p:txBody>
      </p:sp>
      <p:sp>
        <p:nvSpPr>
          <p:cNvPr id="9" name="TextBox 8"/>
          <p:cNvSpPr txBox="1"/>
          <p:nvPr/>
        </p:nvSpPr>
        <p:spPr>
          <a:xfrm>
            <a:off x="8307629" y="1645920"/>
            <a:ext cx="2923946" cy="23774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Who can help</a:t>
            </a:r>
          </a:p>
          <a:p>
            <a:pPr algn="l" marL="0" indent="0">
              <a:lnSpc>
                <a:spcPct val="100000"/>
              </a:lnSpc>
              <a:spcBef>
                <a:spcPts val="800"/>
              </a:spcBef>
              <a:buNone/>
            </a:pPr>
            <a:r>
              <a:rPr lang="en-AU" sz="1800" b="0">
                <a:solidFill>
                  <a:srgbClr val="3D2A6B"/>
                </a:solidFill>
                <a:latin typeface="Arial"/>
                <a:ea typeface="Arial"/>
                <a:cs typeface="Arial"/>
              </a:rPr>
              <a:t>Careers staff, learning support, and disability and employment services.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Prepare for a conversation with school</a:t>
            </a:r>
          </a:p>
        </p:txBody>
      </p:sp>
      <p:sp>
        <p:nvSpPr>
          <p:cNvPr id="4" name="Rounded Rectangle 3"/>
          <p:cNvSpPr/>
          <p:nvPr/>
        </p:nvSpPr>
        <p:spPr>
          <a:xfrm>
            <a:off x="685800" y="1554480"/>
            <a:ext cx="9509760" cy="384048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1965960"/>
            <a:ext cx="658368" cy="658368"/>
          </a:xfrm>
          <a:prstGeom prst="rect">
            <a:avLst/>
          </a:prstGeom>
        </p:spPr>
      </p:pic>
      <p:sp>
        <p:nvSpPr>
          <p:cNvPr id="6" name="TextBox 5"/>
          <p:cNvSpPr txBox="1"/>
          <p:nvPr/>
        </p:nvSpPr>
        <p:spPr>
          <a:xfrm>
            <a:off x="2194560" y="1828800"/>
            <a:ext cx="7680960" cy="33832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Prepare for one purposeful conversation.</a:t>
            </a:r>
          </a:p>
          <a:p>
            <a:pPr marL="347472" indent="-347472" algn="l">
              <a:lnSpc>
                <a:spcPct val="100000"/>
              </a:lnSpc>
              <a:spcBef>
                <a:spcPts val="1400"/>
              </a:spcBef>
              <a:buClr>
                <a:srgbClr val="584099"/>
              </a:buClr>
              <a:buFont typeface="Arial"/>
              <a:buChar char="•"/>
            </a:pPr>
            <a:r>
              <a:rPr lang="en-AU" sz="2000" b="0">
                <a:solidFill>
                  <a:srgbClr val="3D2A6B"/>
                </a:solidFill>
                <a:latin typeface="Arial"/>
                <a:ea typeface="Arial"/>
                <a:cs typeface="Arial"/>
              </a:rPr>
              <a:t>What needs to be understood?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question will open the conversation?</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will your young person take part, or have their views included?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can be decided together?</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and when will we follow up?</a:t>
            </a:r>
          </a:p>
        </p:txBody>
      </p:sp>
      <p:sp>
        <p:nvSpPr>
          <p:cNvPr id="7" name="Rounded Rectangle 6"/>
          <p:cNvSpPr/>
          <p:nvPr/>
        </p:nvSpPr>
        <p:spPr>
          <a:xfrm>
            <a:off x="685800" y="56235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6235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Bring these notes to Session 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8F38CC49-5BCA-4AE9-8473-8E73B8C1E934}">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494170-94B9-4839-8B23-312C5CAD4F7F}">
  <ds:schemaRefs>
    <ds:schemaRef ds:uri="http://schemas.microsoft.com/sharepoint/v3/contenttype/forms"/>
  </ds:schemaRefs>
</ds:datastoreItem>
</file>

<file path=customXml/itemProps3.xml><?xml version="1.0" encoding="utf-8"?>
<ds:datastoreItem xmlns:ds="http://schemas.openxmlformats.org/officeDocument/2006/customXml" ds:itemID="{E21C6D3C-3208-4C9A-BB97-4BF1FDBC9CA8}">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TotalTime>
  <Words>4948</Words>
  <Application>Microsoft Macintosh PowerPoint</Application>
  <PresentationFormat>Widescreen</PresentationFormat>
  <Paragraphs>526</Paragraphs>
  <Slides>17</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Arial Black</vt:lpstr>
      <vt:lpstr>Calibri</vt:lpstr>
      <vt:lpstr>Office Theme</vt:lpstr>
      <vt:lpstr>PowerPoint Presentation</vt:lpstr>
      <vt:lpstr>Working in partnerships</vt:lpstr>
      <vt:lpstr>PowerPoint Presentation</vt:lpstr>
      <vt:lpstr>What is effective collaboration?</vt:lpstr>
      <vt:lpstr>PowerPoint Presentation</vt:lpstr>
      <vt:lpstr>PowerPoint Presentation</vt:lpstr>
      <vt:lpstr>PowerPoint Presentation</vt:lpstr>
      <vt:lpstr>Partnership activity</vt:lpstr>
      <vt:lpstr>PowerPoint Presentation</vt:lpstr>
      <vt:lpstr>PowerPoint Presentation</vt:lpstr>
      <vt:lpstr>PowerPoint Presentation</vt:lpstr>
      <vt:lpstr>PowerPoint Presentation</vt:lpstr>
      <vt:lpstr>PowerPoint Presentation</vt:lpstr>
      <vt:lpstr>PowerPoint Presentation</vt:lpstr>
      <vt:lpstr>NCCD Meetings Tool Kit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 Cousins</dc:creator>
  <cp:lastModifiedBy>Craig Smith</cp:lastModifiedBy>
  <cp:revision>3</cp:revision>
  <dcterms:created xsi:type="dcterms:W3CDTF">2026-08-24T06:22:15Z</dcterms:created>
  <dcterms:modified xsi:type="dcterms:W3CDTF">2026-09-25T06:44:30Z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