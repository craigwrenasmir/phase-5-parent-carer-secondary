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842" r:id="rId5"/>
    <p:sldId id="847" r:id="rId6"/>
    <p:sldId id="848" r:id="rId24"/>
    <p:sldId id="849" r:id="rId25"/>
    <p:sldId id="623" r:id="rId13"/>
    <p:sldId id="591" r:id="rId14"/>
    <p:sldId id="58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DEC358-9AF5-9F80-E7CA-D932E5596AC8}" name="Alison Macrae" initials="AM" userId="S::amacrae@autismspectrum.org.au::6553da1e-2f05-4f27-a7df-76a06554bf9d" providerId="AD"/>
  <p188:author id="{7C3F8D6F-1DEE-6615-6CEF-2DFCB510BACA}" name="Nicole Torres" initials="NT" userId="S::ntorres@autismcrc.com.au::0026055d-e81a-4ac9-a7f9-7ac97c409d2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7" dt="2026-08-25T01:16:54.2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59" autoAdjust="0"/>
    <p:restoredTop sz="80742" autoAdjust="0"/>
  </p:normalViewPr>
  <p:slideViewPr>
    <p:cSldViewPr snapToGrid="0">
      <p:cViewPr varScale="1">
        <p:scale>
          <a:sx n="99" d="100"/>
          <a:sy n="99" d="100"/>
        </p:scale>
        <p:origin x="1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Relationship Id="rId23" Type="http://schemas.microsoft.com/office/2018/10/relationships/authors" Target="authors.xml"/><Relationship Id="rId24" Type="http://schemas.openxmlformats.org/officeDocument/2006/relationships/slide" Target="slides/slide3.xml"/><Relationship Id="rId25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 Cousins" userId="S::jcousins@autismspectrum.org.au::e5107725-ce0a-4006-bfb3-3787c68d621c" providerId="AD" clId="Web-{00000000-0000-0000-0000-000000000000}"/>
    <pc:docChg chg="modSld">
      <pc:chgData name="Jen Cousins" userId="S::jcousins@autismspectrum.org.au::e5107725-ce0a-4006-bfb3-3787c68d621c" providerId="AD" clId="Web-{00000000-0000-0000-0000-000000000000}" dt="2026-08-25T01:16:54.207" v="24" actId="20577"/>
      <pc:docMkLst>
        <pc:docMk/>
      </pc:docMkLst>
      <pc:sldChg chg="modSp">
        <pc:chgData name="Jen Cousins" userId="S::jcousins@autismspectrum.org.au::e5107725-ce0a-4006-bfb3-3787c68d621c" providerId="AD" clId="Web-{00000000-0000-0000-0000-000000000000}" dt="2026-08-25T01:14:54.796" v="4" actId="20577"/>
        <pc:sldMkLst>
          <pc:docMk/>
          <pc:sldMk cId="2514732756" sldId="831"/>
        </pc:sldMkLst>
        <pc:spChg chg="mod">
          <ac:chgData name="Jen Cousins" userId="S::jcousins@autismspectrum.org.au::e5107725-ce0a-4006-bfb3-3787c68d621c" providerId="AD" clId="Web-{00000000-0000-0000-0000-000000000000}" dt="2026-08-25T01:14:54.796" v="4" actId="20577"/>
          <ac:spMkLst>
            <pc:docMk/>
            <pc:sldMk cId="2514732756" sldId="831"/>
            <ac:spMk id="11" creationId="{77185316-A130-7900-FBCC-46284722BF13}"/>
          </ac:spMkLst>
        </pc:spChg>
      </pc:sldChg>
      <pc:sldChg chg="modSp">
        <pc:chgData name="Jen Cousins" userId="S::jcousins@autismspectrum.org.au::e5107725-ce0a-4006-bfb3-3787c68d621c" providerId="AD" clId="Web-{00000000-0000-0000-0000-000000000000}" dt="2026-08-25T01:16:54.207" v="24" actId="20577"/>
        <pc:sldMkLst>
          <pc:docMk/>
          <pc:sldMk cId="909566524" sldId="845"/>
        </pc:sldMkLst>
        <pc:spChg chg="mod">
          <ac:chgData name="Jen Cousins" userId="S::jcousins@autismspectrum.org.au::e5107725-ce0a-4006-bfb3-3787c68d621c" providerId="AD" clId="Web-{00000000-0000-0000-0000-000000000000}" dt="2026-08-25T01:15:09.484" v="7" actId="20577"/>
          <ac:spMkLst>
            <pc:docMk/>
            <pc:sldMk cId="909566524" sldId="845"/>
            <ac:spMk id="2" creationId="{3AF6DD61-E9ED-68B6-3963-5981E1957F36}"/>
          </ac:spMkLst>
        </pc:spChg>
        <pc:spChg chg="mod">
          <ac:chgData name="Jen Cousins" userId="S::jcousins@autismspectrum.org.au::e5107725-ce0a-4006-bfb3-3787c68d621c" providerId="AD" clId="Web-{00000000-0000-0000-0000-000000000000}" dt="2026-08-25T01:16:54.207" v="24" actId="20577"/>
          <ac:spMkLst>
            <pc:docMk/>
            <pc:sldMk cId="909566524" sldId="845"/>
            <ac:spMk id="3" creationId="{70544750-78E2-6BA7-D6BF-05D88B8B9669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914A82-6332-4EE3-858D-A919E5E1B5B0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ED845D-D26B-42D1-9889-EA40541429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0503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FA376-FBCA-E134-00AC-F76F7CBA9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82D267-8BD3-BC2F-2281-1FE0BC6E13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679C2-2556-FDBE-AACF-C054420D9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2 min  ·  2:10 - 2:12</a:t>
            </a:r>
          </a:p>
          <a:p/>
          <a:p>
            <a:r>
              <a:t>PURPOSE</a:t>
            </a:r>
          </a:p>
          <a:p>
            <a:r>
              <a:t>Open the final session and return to the young person participants described at the start of the day.</a:t>
            </a:r>
          </a:p>
          <a:p/>
          <a:p>
            <a:r>
              <a:t>WHAT TO DO</a:t>
            </a:r>
          </a:p>
          <a:p>
            <a:r>
              <a:t>1. Name this as a short, practical closing session.</a:t>
            </a:r>
          </a:p>
          <a:p>
            <a:r>
              <a:t>2. Invite participants to look again at the three things they wrote about their young person in Session 1.</a:t>
            </a:r>
          </a:p>
          <a:p>
            <a:r>
              <a:t>3. Invite one or two people to look back at the one thing they wanted to know from Session 1 and say what has shifted, or what has been answered. Keep this to 1 to 2 minutes.</a:t>
            </a:r>
          </a:p>
          <a:p>
            <a:r>
              <a:t>4. Explain that they will choose a few small actions to carry forward, not a long list.</a:t>
            </a:r>
          </a:p>
          <a:p>
            <a:r>
              <a:t>5. Keep the closing grounded rather than adding new content.</a:t>
            </a:r>
          </a:p>
          <a:p/>
          <a:p>
            <a:r>
              <a:t>KEY MESSAGES</a:t>
            </a:r>
          </a:p>
          <a:p>
            <a:r>
              <a:t>• The day comes back to your young person as a whole person.</a:t>
            </a:r>
          </a:p>
          <a:p>
            <a:r>
              <a:t>• One or two small steps are more useful than a long list.</a:t>
            </a:r>
          </a:p>
          <a:p/>
          <a:p>
            <a:r>
              <a:t>THREAD</a:t>
            </a:r>
          </a:p>
          <a:p>
            <a:r>
              <a:t>Returns to 'What I love and value about my young person' and the one thing participants wanted to know from Session 1.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6F3C3-F556-9D14-0433-2A3DB64ABF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57639E-2754-4616-B3B2-52F975BD6937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7212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SUGGESTED TIME: 2 min  ·  2:12 - 2:14</a:t>
            </a:r>
          </a:p>
          <a:p/>
          <a:p>
            <a:r>
              <a:t>PURPOSE</a:t>
            </a:r>
          </a:p>
          <a:p>
            <a:r>
              <a:t>Bring the day together through belonging, capacity and joy.</a:t>
            </a:r>
          </a:p>
          <a:p/>
          <a:p>
            <a:r>
              <a:t>WHAT TO DO</a:t>
            </a:r>
          </a:p>
          <a:p>
            <a:r>
              <a:t>1. Present belonging, capacity and joy together, as connected ideas.</a:t>
            </a:r>
          </a:p>
          <a:p>
            <a:r>
              <a:t>2. Belonging: being recognised, included and able to participate as oneself.</a:t>
            </a:r>
          </a:p>
          <a:p>
            <a:r>
              <a:t>3. Capacity: what the day costs, protects and restores.</a:t>
            </a:r>
          </a:p>
          <a:p>
            <a:r>
              <a:t>4. Joy: interests, connection and authentic expression.</a:t>
            </a:r>
          </a:p>
          <a:p>
            <a:r>
              <a:t>5. Point to the last line on the slide: return to these three when judging whether a change supports flourishing.</a:t>
            </a:r>
          </a:p>
          <a:p/>
          <a:p>
            <a:r>
              <a:t>YOU MIGHT SAY</a:t>
            </a:r>
          </a:p>
          <a:p>
            <a:r>
              <a:t>Keep all three in the picture.</a:t>
            </a:r>
          </a:p>
          <a:p/>
          <a:p>
            <a:r>
              <a:t>KEY MESSAGES</a:t>
            </a:r>
          </a:p>
          <a:p>
            <a:r>
              <a:t>• Belonging, capacity and joy matter as much as getting through the day.</a:t>
            </a:r>
          </a:p>
          <a:p>
            <a:r>
              <a:t>• A change at home or at school can be checked against all three.</a:t>
            </a:r>
          </a:p>
          <a:p/>
          <a:p>
            <a:r>
              <a:t>KEEP IN MIND</a:t>
            </a:r>
          </a:p>
          <a:p>
            <a:r>
              <a:t>• Avoid presenting school results, quiet compliance or doing things alone as the only signs that a young person is doing well.</a:t>
            </a:r>
          </a:p>
          <a:p/>
          <a:p>
            <a:r>
              <a:t>THREAD</a:t>
            </a:r>
          </a:p>
          <a:p>
            <a:r>
              <a:t>Capacity picks up the batteries, spoons and fluctuating capacity from Session 3 (what uses up your young person's energy and what helps them recharge) and your own battery from Session 4; joy picks up interests as an anchor from Session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TIME: 8 min  ·  2:14 - 2:22  ·  Workbook - Three small things</a:t>
            </a:r>
          </a:p>
          <a:p/>
          <a:p>
            <a:r>
              <a:t>PURPOSE</a:t>
            </a:r>
          </a:p>
          <a:p>
            <a:r>
              <a:t>Help each participant choose three small, specific actions across home, school and their young person's positive identity.</a:t>
            </a:r>
          </a:p>
          <a:p/>
          <a:p>
            <a:r>
              <a:t>WHAT TO DO</a:t>
            </a:r>
          </a:p>
          <a:p>
            <a:r>
              <a:t>1. Introduce the three small things on the slide.</a:t>
            </a:r>
          </a:p>
          <a:p>
            <a:r>
              <a:t>2. Allow quiet writing time in the Workbook.</a:t>
            </a:r>
          </a:p>
          <a:p>
            <a:r>
              <a:t>3. Encourage participants to keep each action small enough to start this week.</a:t>
            </a:r>
          </a:p>
          <a:p>
            <a:r>
              <a:t>4. For the school item, point participants back to their notes from Session 5, slide 16.</a:t>
            </a:r>
          </a:p>
          <a:p>
            <a:r>
              <a:t>5. Invite one or two people to share if they wish; sharing is optional.</a:t>
            </a:r>
          </a:p>
          <a:p/>
          <a:p>
            <a:r>
              <a:t>KEY MESSAGES</a:t>
            </a:r>
          </a:p>
          <a:p>
            <a:r>
              <a:t>• A useful action can be small and specific.</a:t>
            </a:r>
          </a:p>
          <a:p>
            <a:r>
              <a:t>• The three prompts connect home, school and your young person's positive identity.</a:t>
            </a:r>
          </a:p>
          <a:p/>
          <a:p>
            <a:r>
              <a:t>ACTIVITY: Individual reflection and action planning  ·  on your own  ·  8 minutes</a:t>
            </a:r>
          </a:p>
          <a:p>
            <a:r>
              <a:t>Prompt: Three small things. Write them in your workbook.</a:t>
            </a:r>
          </a:p>
          <a:p>
            <a:r>
              <a:t>1. One thing to try at home this week. Keep it small.</a:t>
            </a:r>
          </a:p>
          <a:p>
            <a:r>
              <a:t>2. One thing you would like school to know, understand or support, and the sentence you will open with.</a:t>
            </a:r>
          </a:p>
          <a:p>
            <a:r>
              <a:t>3. One strength you see in your young person, and a plan to tell them this week.</a:t>
            </a:r>
          </a:p>
          <a:p>
            <a:r>
              <a:t>Close: Invite participants to keep their notes somewhere they will see them after the workshop.</a:t>
            </a:r>
          </a:p>
          <a:p/>
          <a:p>
            <a:r>
              <a:t>KEEP IN MIND</a:t>
            </a:r>
          </a:p>
          <a:p>
            <a:r>
              <a:t>• Some families are going through a very hard time. If someone cannot think of an action today, that is fine. Naming a strength may be enough.</a:t>
            </a:r>
          </a:p>
          <a:p>
            <a:r>
              <a:t>• Some participants may choose to tell their young person privately, or in a message, rather than out loud. Any way that suits them is fine.</a:t>
            </a:r>
          </a:p>
          <a:p/>
          <a:p>
            <a:r>
              <a:t>THREAD</a:t>
            </a:r>
          </a:p>
          <a:p>
            <a:r>
              <a:t>Draws together the Session 4 ideas to try at home (including the step towards independence), the Session 5 conversation plan and the Session 1 strengths.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TIME: 2 min  ·  2:22 - 2:24</a:t>
            </a:r>
          </a:p>
          <a:p/>
          <a:p>
            <a:r>
              <a:t>PURPOSE</a:t>
            </a:r>
          </a:p>
          <a:p>
            <a:r>
              <a:t>Point participants towards continued connection with other families, parent groups, family webinars and the online Community of Practice.</a:t>
            </a:r>
          </a:p>
          <a:p/>
          <a:p>
            <a:r>
              <a:t>WHAT TO DO</a:t>
            </a:r>
          </a:p>
          <a:p>
            <a:r>
              <a:t>1. Name the four options on the slide: each other, parent groups, webinars and deep dives, and the online Community of Practice.</a:t>
            </a:r>
          </a:p>
          <a:p>
            <a:r>
              <a:t>2. Invite participants to swap contact details with others at their table if they would like to.</a:t>
            </a:r>
          </a:p>
          <a:p>
            <a:r>
              <a:t>3. Explain how to access the webinars and the Community of Practice.</a:t>
            </a:r>
          </a:p>
          <a:p>
            <a:r>
              <a:t>4. Avoid implying that every option will suit every family.</a:t>
            </a:r>
          </a:p>
          <a:p>
            <a:r>
              <a:t>5. Read the last line on the slide: asking for help is part of parenting. It also shows your young person that asking for help is okay.</a:t>
            </a:r>
          </a:p>
          <a:p/>
          <a:p>
            <a:r>
              <a:t>YOU MIGHT SAY</a:t>
            </a:r>
          </a:p>
          <a:p>
            <a:r>
              <a:t>Asking for help is part of parenting, and it shows your young person that asking for help is okay.</a:t>
            </a:r>
          </a:p>
          <a:p/>
          <a:p>
            <a:r>
              <a:t>KEY MESSAGES</a:t>
            </a:r>
          </a:p>
          <a:p>
            <a:r>
              <a:t>• Connection after today can come through other families, parent groups or online.</a:t>
            </a:r>
          </a:p>
          <a:p>
            <a:r>
              <a:t>• Choose the kind of connection that fits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1 min  ·  2:24 - 2:25</a:t>
            </a:r>
          </a:p>
          <a:p/>
          <a:p>
            <a:r>
              <a:t>PURPOSE</a:t>
            </a:r>
          </a:p>
          <a:p>
            <a:r>
              <a:t>Show where to follow Positive Partnerships online.</a:t>
            </a:r>
          </a:p>
          <a:p/>
          <a:p>
            <a:r>
              <a:t>WHAT TO DO</a:t>
            </a:r>
          </a:p>
          <a:p>
            <a:r>
              <a:t>1. Leave the slide up briefly so participants can note or photograph the handles.</a:t>
            </a:r>
          </a:p>
          <a:p>
            <a:r>
              <a:t>2. Mention that the website has resources for families on many of today's topics.</a:t>
            </a:r>
          </a:p>
          <a:p/>
          <a:p>
            <a:r>
              <a:t>RESOURCES</a:t>
            </a:r>
          </a:p>
          <a:p>
            <a:r>
              <a:t>Positive Partnerships website - positivepartnerships.com.au</a:t>
            </a:r>
          </a:p>
          <a:p>
            <a:r>
              <a:t>Facebook - facebook.com/PositivePartnershipsAU</a:t>
            </a:r>
          </a:p>
          <a:p>
            <a:r>
              <a:t>Instagram - @positivepartnerships</a:t>
            </a:r>
          </a:p>
          <a:p>
            <a:r>
              <a:t>Threads - @positivepartnerships</a:t>
            </a:r>
          </a:p>
          <a:p>
            <a:r>
              <a:t>LinkedIn - Positive Partnerships</a:t>
            </a:r>
          </a:p>
          <a:p>
            <a:r>
              <a:t>Pinterest - pinterest.com.au/PositivePartnershipsAustralia/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C6345-C4B0-4EAE-A3B4-FCAC51D578EF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1454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4 min  ·  2:25 - 2:29</a:t>
            </a:r>
          </a:p>
          <a:p/>
          <a:p>
            <a:r>
              <a:t>PURPOSE</a:t>
            </a:r>
          </a:p>
          <a:p>
            <a:r>
              <a:t>Collect participant feedback on the workshop.</a:t>
            </a:r>
          </a:p>
          <a:p/>
          <a:p>
            <a:r>
              <a:t>WHAT TO DO</a:t>
            </a:r>
          </a:p>
          <a:p>
            <a:r>
              <a:t>1. Explain why feedback is collected and how it helps shape future workshops for families.</a:t>
            </a:r>
          </a:p>
          <a:p>
            <a:r>
              <a:t>2. Show how to access the form, using the feedback link (TBA) and QR code.</a:t>
            </a:r>
          </a:p>
          <a:p>
            <a:r>
              <a:t>3. Allow protected time for completion in the room.</a:t>
            </a:r>
          </a:p>
          <a:p>
            <a:r>
              <a:t>4. Offer an alternative for anyone who cannot use the online form.</a:t>
            </a:r>
          </a:p>
          <a:p/>
          <a:p>
            <a:r>
              <a:t>KEEP IN MIND</a:t>
            </a:r>
          </a:p>
          <a:p>
            <a:r>
              <a:t>• The slide shows a placeholder: add the feedback link (TBA) and QR code before delivery.</a:t>
            </a:r>
          </a:p>
          <a:p/>
          <a:p>
            <a:r>
              <a:t>RESOURCES</a:t>
            </a:r>
          </a:p>
          <a:p>
            <a:r>
              <a:t>Feedback link and QR code: TBA</a:t>
            </a:r>
          </a:p>
        </p:txBody>
      </p:sp>
    </p:spTree>
    <p:extLst>
      <p:ext uri="{BB962C8B-B14F-4D97-AF65-F5344CB8AC3E}">
        <p14:creationId xmlns:p14="http://schemas.microsoft.com/office/powerpoint/2010/main" val="22701709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1 min  ·  2:29 - 2:30</a:t>
            </a:r>
          </a:p>
          <a:p/>
          <a:p>
            <a:r>
              <a:t>PURPOSE</a:t>
            </a:r>
          </a:p>
          <a:p>
            <a:r>
              <a:t>Close warmly and return participants to their young person and one small next step.</a:t>
            </a:r>
          </a:p>
          <a:p/>
          <a:p>
            <a:r>
              <a:t>WHAT TO DO</a:t>
            </a:r>
          </a:p>
          <a:p>
            <a:r>
              <a:t>1. Thank participants for their time, their questions and what they shared about their young people.</a:t>
            </a:r>
          </a:p>
          <a:p>
            <a:r>
              <a:t>2. Invite them to stay curious and keep their young person at the centre.</a:t>
            </a:r>
          </a:p>
          <a:p>
            <a:r>
              <a:t>3. Remind participants to take their Workbook with their three small things.</a:t>
            </a:r>
          </a:p>
          <a:p>
            <a:r>
              <a:t>4. State the follow-up and contact arrangements.</a:t>
            </a:r>
          </a:p>
          <a:p/>
          <a:p>
            <a:r>
              <a:t>KEY MESSAGES</a:t>
            </a:r>
          </a:p>
          <a:p>
            <a:r>
              <a:t>• Stay curious.</a:t>
            </a:r>
          </a:p>
          <a:p>
            <a:r>
              <a:t>• Keep your young person at the centre.</a:t>
            </a:r>
          </a:p>
          <a:p>
            <a:r>
              <a:t>• Take one small next step and include the people who know your young person well. Small changes can be adjusted as you go.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4707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8D6C9-C8AA-44C4-4931-B382C18639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B0037-3390-A966-0EBE-D795C3F688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BB3E6-3703-518E-C773-70E0E4F94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8A0B6-825C-8E42-35F9-BC7E4501A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79D15-E047-F9AE-AAE7-5BD7C3EFB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0769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02C15-D2D8-8F8F-F025-D2487EFD9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B96AF-95C1-A5C1-E73A-831D4E2F5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03DA0-50A6-D538-79D9-5E4C0C004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ECC71-AB07-9583-6936-B3C19E631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0FABA-841F-FE19-813D-42FA22717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3149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1C130-C195-F979-C996-43C69E20B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1547D-5500-AFAE-D21E-7C6357D23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65C74-8D24-AF82-BEA1-F26C254E2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DA315-180D-2FA3-A9BC-01C5D5D67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05573-D0B6-34B1-1291-F62FAA95B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3103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850D6-575C-CB41-65A7-FB804F56A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1AB66-7C88-6A15-6D8D-8156EBFCDE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BF4B84-D37C-AC67-13D5-2675C140A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5CB32D-1C8A-2343-22CC-E378AEF3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0C401E-C5C9-FF2F-F378-60ABB41EB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EAD7F-2D27-5053-D388-C766FB4D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8258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3652B-4E9D-C103-17CE-5DF2B51F1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16675-A71C-4904-0FF1-D5B8D3714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BA880-2D6A-1AA3-9C39-74A40D9E0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DFA0F3-A8A7-4F4E-61E5-2658D2491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A1E242-5908-6CCF-F77A-148EE5E921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331BC2-4F17-83CD-8504-7E61BC3A6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10B8AD-E95C-5456-BBC1-328DAF3C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D86B90-A435-E3F2-EA44-6A8C8A6E6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0333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C62AE-4571-FF4C-4C3E-AB065B0E8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303C8-8F3A-4539-454B-4B436868E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3BA5F9-3C8B-EAF6-0B2D-6D968A2DA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0E689E-FF7B-4208-CD6A-F63985597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0270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C7A373-84D6-6742-696A-532FEAF89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46E7A-F9BC-67E1-8EC5-353D4A8CF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AC8BD-6F60-7B66-0139-D144520F3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7705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748D2-D824-1C37-B882-FE52B8AFF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7D53E-26C1-1097-D4CA-AD653C0E7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CD386-9696-1756-8606-31933629B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A04459-AEE9-32FD-67D2-E9B7F5BD2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EA51B-3BA0-7066-34BA-F3E12AD64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0C672D-C6E0-05A6-E1CB-1EF3705B5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824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18754-344E-8F2F-37E4-8C8778665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78F485-F60E-3DEC-A66D-A0A001776D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30EA3D-01BC-748B-BA48-03D96EF3D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1F00D2-2456-0349-31F3-BF594B96F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3F4A45-4B3D-E948-6973-154B5A739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14AAF0-1024-84A7-5CE2-174823542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9389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41FC3-840A-471B-5906-04D822FE3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B75C24-F185-4C62-1569-3951DF603F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9F63D-BD51-529C-98FF-15F3285AA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CC688-12E0-94F5-B228-F9B1D7649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1C413-9089-9B05-B8EC-3DC773608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928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835A89-BCBF-4B62-DAE1-DF204AF183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E03E82-6631-29FC-2AAA-C293B2945D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C9247-8721-17D1-2047-627DFC469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6DB14-3D48-A4C9-A73F-0305080D7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D2F71-10E0-0071-F7F8-0B08302C3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2604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4E257-01C1-FF4E-A621-4CDB8E364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141" y="2234624"/>
            <a:ext cx="6756008" cy="30417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BC1C21F1-E016-B546-B8A2-0753B298F5B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16213" y="917909"/>
            <a:ext cx="3264760" cy="3375187"/>
          </a:xfrm>
          <a:prstGeom prst="roundRect">
            <a:avLst/>
          </a:prstGeom>
          <a:noFill/>
          <a:ln w="635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793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4C7C52-3677-EB4A-92DB-F07C343D7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6CDA9-E14D-7E9C-B18D-D572246A7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99416-908D-9535-1946-7F6B2932D7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E84F6-AD10-DB0C-1F16-6CC48227FF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A36C2-AC8A-6FAE-4E57-F75AC4E379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7528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2.png"/><Relationship Id="rId5" Type="http://schemas.openxmlformats.org/officeDocument/2006/relationships/hyperlink" Target="http://www.positivepartnerships.com.au/" TargetMode="External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openxmlformats.org/officeDocument/2006/relationships/image" Target="../media/image8.png"/><Relationship Id="rId12" Type="http://schemas.openxmlformats.org/officeDocument/2006/relationships/image" Target="../media/image9.png"/><Relationship Id="rId13" Type="http://schemas.openxmlformats.org/officeDocument/2006/relationships/image" Target="../media/image10.png"/><Relationship Id="rId14" Type="http://schemas.openxmlformats.org/officeDocument/2006/relationships/image" Target="../media/image11.png"/><Relationship Id="rId15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13.jpeg"/><Relationship Id="rId5" Type="http://schemas.openxmlformats.org/officeDocument/2006/relationships/image" Target="../media/image14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8758A-4EC0-C24C-0414-4B79E1726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8549640" y="4663440"/>
            <a:ext cx="4873752" cy="4873752"/>
          </a:xfrm>
          <a:prstGeom prst="ellipse">
            <a:avLst/>
          </a:prstGeom>
          <a:solidFill>
            <a:srgbClr val="EDE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9AF26-10D7-9B44-4DD4-07D17957C14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259" r="15259"/>
          <a:stretch/>
        </p:blipFill>
        <p:spPr>
          <a:xfrm>
            <a:off x="0" y="0"/>
            <a:ext cx="676656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60502DD-259B-5020-6871-D083521624CD}"/>
              </a:ext>
            </a:extLst>
          </p:cNvPr>
          <p:cNvSpPr txBox="1">
            <a:spLocks/>
          </p:cNvSpPr>
          <p:nvPr/>
        </p:nvSpPr>
        <p:spPr>
          <a:xfrm>
            <a:off x="7269480" y="1097280"/>
            <a:ext cx="4297680" cy="420624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600" b="1" dirty="0">
                <a:solidFill>
                  <a:srgbClr val="584099"/>
                </a:solidFill>
                <a:latin typeface="Arial"/>
                <a:ea typeface="Arial"/>
                <a:cs typeface="Arial"/>
              </a:rPr>
              <a:t>Parents and Carers · Secondary · Session 6</a:t>
            </a:r>
          </a:p>
          <a:p>
            <a:pPr marL="0" indent="0" algn="l">
              <a:lnSpc>
                <a:spcPct val="95000"/>
              </a:lnSpc>
              <a:spcBef>
                <a:spcPts val="1000"/>
              </a:spcBef>
              <a:buNone/>
            </a:pPr>
            <a:r>
              <a:rPr lang="en-AU" sz="3600" b="0" dirty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Full Circle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3460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Belonging, capacity and joy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Keep all three in the picture.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3423818" cy="274320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783738" cy="274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8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Belonging</a:t>
            </a:r>
          </a:p>
          <a:p>
            <a:pPr marL="0" indent="0" algn="l">
              <a:lnSpc>
                <a:spcPct val="105000"/>
              </a:lnSpc>
              <a:spcBef>
                <a:spcPts val="1000"/>
              </a:spcBef>
              <a:buNone/>
            </a:pPr>
            <a:r>
              <a:rPr lang="en-AU" sz="18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Being recognised, included and able to participate as oneself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3938" y="2011680"/>
            <a:ext cx="3423818" cy="2743200"/>
          </a:xfrm>
          <a:prstGeom prst="roundRect">
            <a:avLst>
              <a:gd name="adj" fmla="val 10000"/>
            </a:avLst>
          </a:prstGeom>
          <a:solidFill>
            <a:srgbClr val="DCD3F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03978" y="2011680"/>
            <a:ext cx="2783738" cy="274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8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Capacity</a:t>
            </a:r>
          </a:p>
          <a:p>
            <a:pPr marL="0" indent="0" algn="l">
              <a:lnSpc>
                <a:spcPct val="105000"/>
              </a:lnSpc>
              <a:spcBef>
                <a:spcPts val="1000"/>
              </a:spcBef>
              <a:buNone/>
            </a:pPr>
            <a:r>
              <a:rPr lang="en-AU" sz="18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What the day costs, protects and restores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2077" y="2011680"/>
            <a:ext cx="3423818" cy="274320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02117" y="2011680"/>
            <a:ext cx="2783738" cy="274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8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Joy</a:t>
            </a:r>
          </a:p>
          <a:p>
            <a:pPr marL="0" indent="0" algn="l">
              <a:lnSpc>
                <a:spcPct val="105000"/>
              </a:lnSpc>
              <a:spcBef>
                <a:spcPts val="1000"/>
              </a:spcBef>
              <a:buNone/>
            </a:pPr>
            <a:r>
              <a:rPr lang="en-AU" sz="18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Interests, connection and authentic expression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120640"/>
            <a:ext cx="10820095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120640"/>
            <a:ext cx="10271455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7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Return to these when judging whether a change supports flourishing.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52560" y="4023360"/>
            <a:ext cx="4754880" cy="4754880"/>
          </a:xfrm>
          <a:prstGeom prst="ellipse">
            <a:avLst/>
          </a:prstGeom>
          <a:solidFill>
            <a:srgbClr val="6A52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85800" y="45720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Bringing it all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Three small things. Write them in your workbook.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331720"/>
            <a:ext cx="384048" cy="384048"/>
          </a:xfrm>
          <a:prstGeom prst="ellipse">
            <a:avLst/>
          </a:prstGeom>
          <a:solidFill>
            <a:srgbClr val="584099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286000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0">
                <a:solidFill>
                  <a:srgbClr val="F1ECFA"/>
                </a:solidFill>
                <a:latin typeface="Arial"/>
                <a:ea typeface="Arial"/>
                <a:cs typeface="Arial"/>
              </a:rPr>
              <a:t>One thing to try at home this week. Keep it small.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990088"/>
            <a:ext cx="384048" cy="384048"/>
          </a:xfrm>
          <a:prstGeom prst="ellipse">
            <a:avLst/>
          </a:prstGeom>
          <a:solidFill>
            <a:srgbClr val="584099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9008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944368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0">
                <a:solidFill>
                  <a:srgbClr val="F1ECFA"/>
                </a:solidFill>
                <a:latin typeface="Arial"/>
                <a:ea typeface="Arial"/>
                <a:cs typeface="Arial"/>
              </a:rPr>
              <a:t>One thing you would like school to know, understand or support, and the sentence you will open with.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648456"/>
            <a:ext cx="384048" cy="384048"/>
          </a:xfrm>
          <a:prstGeom prst="ellipse">
            <a:avLst/>
          </a:prstGeom>
          <a:solidFill>
            <a:srgbClr val="584099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6484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602736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0">
                <a:solidFill>
                  <a:srgbClr val="F1ECFA"/>
                </a:solidFill>
                <a:latin typeface="Arial"/>
                <a:ea typeface="Arial"/>
                <a:cs typeface="Arial"/>
              </a:rPr>
              <a:t>One strength you see in your young person, and a plan to tell them this week.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8549640" y="3840480"/>
            <a:ext cx="4873752" cy="4873752"/>
          </a:xfrm>
          <a:prstGeom prst="ellipse">
            <a:avLst/>
          </a:prstGeom>
          <a:solidFill>
            <a:srgbClr val="EDE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685800" y="45720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Connections that continue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2554148" cy="292608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005508" cy="2468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Each other</a:t>
            </a:r>
          </a:p>
          <a:p>
            <a:pPr algn="l"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en-AU" sz="1700" b="0">
                <a:solidFill>
                  <a:srgbClr val="3D2A6B"/>
                </a:solidFill>
                <a:latin typeface="Arial"/>
                <a:ea typeface="Arial"/>
                <a:cs typeface="Arial"/>
              </a:rPr>
              <a:t>The families in this room understand things others may not. Connections made today can last.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41116" y="1371600"/>
            <a:ext cx="2554148" cy="292608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15436" y="1645920"/>
            <a:ext cx="2005508" cy="2468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Parent groups</a:t>
            </a:r>
          </a:p>
          <a:p>
            <a:pPr algn="l"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en-AU" sz="1700" b="0">
                <a:solidFill>
                  <a:srgbClr val="3D2A6B"/>
                </a:solidFill>
                <a:latin typeface="Arial"/>
                <a:ea typeface="Arial"/>
                <a:cs typeface="Arial"/>
              </a:rPr>
              <a:t>Local and online groups, for the questions that come up later.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6432" y="1371600"/>
            <a:ext cx="2554148" cy="292608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0752" y="1645920"/>
            <a:ext cx="2005508" cy="2468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Webinars and deep dives</a:t>
            </a:r>
          </a:p>
          <a:p>
            <a:pPr algn="l"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en-AU" sz="1700" b="0">
                <a:solidFill>
                  <a:srgbClr val="3D2A6B"/>
                </a:solidFill>
                <a:latin typeface="Arial"/>
                <a:ea typeface="Arial"/>
                <a:cs typeface="Arial"/>
              </a:rPr>
              <a:t>Titles and dates to confirm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51747" y="1371600"/>
            <a:ext cx="2554148" cy="292608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26067" y="1645920"/>
            <a:ext cx="2005508" cy="2468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Online Community of Practice</a:t>
            </a:r>
          </a:p>
          <a:p>
            <a:pPr algn="l"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en-AU" sz="1700" b="0">
                <a:solidFill>
                  <a:srgbClr val="3D2A6B"/>
                </a:solidFill>
                <a:latin typeface="Arial"/>
                <a:ea typeface="Arial"/>
                <a:cs typeface="Arial"/>
              </a:rPr>
              <a:t>Link and QR code TBA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663440"/>
            <a:ext cx="10820095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663440"/>
            <a:ext cx="10271455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6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Asking for help is part of parenting, and it shows your young person that asking for help is okay.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reads by Instagram Logo PNG Vector (AI, PDF, SVG) Free Download">
            <a:extLst>
              <a:ext uri="{FF2B5EF4-FFF2-40B4-BE49-F238E27FC236}">
                <a16:creationId xmlns:a16="http://schemas.microsoft.com/office/drawing/2014/main" id="{FD83E397-CBAC-E8DA-A6F9-60CA9F312C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8922" y="2839390"/>
            <a:ext cx="854361" cy="989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itle 1"/>
          <p:cNvSpPr txBox="1">
            <a:spLocks/>
          </p:cNvSpPr>
          <p:nvPr/>
        </p:nvSpPr>
        <p:spPr>
          <a:xfrm>
            <a:off x="685800" y="457200"/>
            <a:ext cx="5029200" cy="77724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Resources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33750" y="3009124"/>
            <a:ext cx="4140000" cy="555030"/>
          </a:xfrm>
          <a:prstGeom prst="roundRect">
            <a:avLst>
              <a:gd name="adj" fmla="val 50000"/>
            </a:avLst>
          </a:prstGeom>
          <a:solidFill>
            <a:srgbClr val="574099"/>
          </a:solidFill>
        </p:spPr>
        <p:txBody>
          <a:bodyPr wrap="square"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Threads @positivepartnerships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71800" y="740142"/>
            <a:ext cx="4140000" cy="555030"/>
          </a:xfrm>
          <a:prstGeom prst="roundRect">
            <a:avLst>
              <a:gd name="adj" fmla="val 50000"/>
            </a:avLst>
          </a:prstGeom>
          <a:solidFill>
            <a:srgbClr val="574099"/>
          </a:solidFill>
        </p:spPr>
        <p:txBody>
          <a:bodyPr wrap="square"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LinkedIn Positive 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artnerships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282569" y="4151130"/>
            <a:ext cx="4595931" cy="905592"/>
          </a:xfrm>
          <a:prstGeom prst="roundRect">
            <a:avLst>
              <a:gd name="adj" fmla="val 50000"/>
            </a:avLst>
          </a:prstGeom>
          <a:solidFill>
            <a:srgbClr val="574099"/>
          </a:solidFill>
        </p:spPr>
        <p:txBody>
          <a:bodyPr wrap="square"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   pinterest.com.au/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    PositivePartnershipsAustralia/</a:t>
            </a:r>
          </a:p>
        </p:txBody>
      </p:sp>
      <p:sp>
        <p:nvSpPr>
          <p:cNvPr id="35" name="Rounded Rectangle 34">
            <a:hlinkClick r:id="rId5"/>
          </p:cNvPr>
          <p:cNvSpPr/>
          <p:nvPr/>
        </p:nvSpPr>
        <p:spPr>
          <a:xfrm>
            <a:off x="926630" y="6094462"/>
            <a:ext cx="3903603" cy="540000"/>
          </a:xfrm>
          <a:prstGeom prst="roundRect">
            <a:avLst>
              <a:gd name="adj" fmla="val 50000"/>
            </a:avLst>
          </a:prstGeom>
          <a:solidFill>
            <a:srgbClr val="584099"/>
          </a:solidFill>
        </p:spPr>
        <p:txBody>
          <a:bodyPr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positivepartnerships.com.au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92126" y="5651213"/>
            <a:ext cx="5181624" cy="555030"/>
          </a:xfrm>
          <a:prstGeom prst="roundRect">
            <a:avLst>
              <a:gd name="adj" fmla="val 50000"/>
            </a:avLst>
          </a:prstGeom>
          <a:solidFill>
            <a:srgbClr val="574099"/>
          </a:solidFill>
        </p:spPr>
        <p:txBody>
          <a:bodyPr wrap="square"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facebook.com/PositivePartnershipsAU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33750" y="1882148"/>
            <a:ext cx="4140000" cy="540000"/>
          </a:xfrm>
          <a:prstGeom prst="roundRect">
            <a:avLst>
              <a:gd name="adj" fmla="val 50000"/>
            </a:avLst>
          </a:prstGeom>
          <a:solidFill>
            <a:srgbClr val="574099"/>
          </a:solidFill>
        </p:spPr>
        <p:txBody>
          <a:bodyPr wrap="square"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Instagram @positivepartnerships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427443" y="1728330"/>
            <a:ext cx="4288329" cy="3370290"/>
            <a:chOff x="348618" y="1882148"/>
            <a:chExt cx="4288329" cy="3370290"/>
          </a:xfrm>
        </p:grpSpPr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782" y="2136188"/>
              <a:ext cx="3710989" cy="2333069"/>
            </a:xfrm>
            <a:prstGeom prst="rect">
              <a:avLst/>
            </a:prstGeom>
          </p:spPr>
        </p:pic>
        <p:pic>
          <p:nvPicPr>
            <p:cNvPr id="57" name="Picture 56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8618" y="1882148"/>
              <a:ext cx="4288329" cy="3370290"/>
            </a:xfrm>
            <a:prstGeom prst="rect">
              <a:avLst/>
            </a:prstGeom>
          </p:spPr>
        </p:pic>
      </p:grpSp>
      <p:pic>
        <p:nvPicPr>
          <p:cNvPr id="58" name="Picture 5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89" y="587686"/>
            <a:ext cx="872779" cy="872779"/>
          </a:xfrm>
          <a:prstGeom prst="rect">
            <a:avLst/>
          </a:prstGeom>
        </p:spPr>
      </p:pic>
      <p:pic>
        <p:nvPicPr>
          <p:cNvPr id="59" name="Picture 58" descr="C:\1. POSITIVE PARTNERSHIPS_02.07.19\IMAGES\Pinterest-Badge\Badge\RGB\badgeRGB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176" y="4145920"/>
            <a:ext cx="910592" cy="910592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Rounded Rectangle 60"/>
          <p:cNvSpPr/>
          <p:nvPr/>
        </p:nvSpPr>
        <p:spPr>
          <a:xfrm>
            <a:off x="7184231" y="1719503"/>
            <a:ext cx="962527" cy="86295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191" y="1452717"/>
            <a:ext cx="1366942" cy="1366942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6768" y="3384258"/>
            <a:ext cx="4363086" cy="2666331"/>
          </a:xfrm>
          <a:prstGeom prst="rect">
            <a:avLst/>
          </a:prstGeom>
        </p:spPr>
      </p:pic>
      <p:grpSp>
        <p:nvGrpSpPr>
          <p:cNvPr id="65" name="Group 64"/>
          <p:cNvGrpSpPr/>
          <p:nvPr/>
        </p:nvGrpSpPr>
        <p:grpSpPr>
          <a:xfrm>
            <a:off x="779528" y="3938098"/>
            <a:ext cx="1053005" cy="2094376"/>
            <a:chOff x="5348822" y="4443663"/>
            <a:chExt cx="1208395" cy="2403439"/>
          </a:xfrm>
        </p:grpSpPr>
        <p:pic>
          <p:nvPicPr>
            <p:cNvPr id="66" name="Picture 65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7631" y="4828674"/>
              <a:ext cx="859861" cy="16340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" name="Picture 66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48822" y="4443663"/>
              <a:ext cx="1208395" cy="2403439"/>
            </a:xfrm>
            <a:prstGeom prst="rect">
              <a:avLst/>
            </a:prstGeom>
          </p:spPr>
        </p:pic>
      </p:grpSp>
      <p:pic>
        <p:nvPicPr>
          <p:cNvPr id="68" name="Picture 6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8681" y="5458707"/>
            <a:ext cx="940042" cy="9400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32FE0F-2221-8876-25CD-EC6882C8C1C9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b="9760"/>
          <a:stretch/>
        </p:blipFill>
        <p:spPr>
          <a:xfrm>
            <a:off x="2734079" y="3660558"/>
            <a:ext cx="3151714" cy="199065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00530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-1000816" y="-750095"/>
            <a:ext cx="7627392" cy="7627392"/>
          </a:xfrm>
          <a:prstGeom prst="ellipse">
            <a:avLst/>
          </a:prstGeom>
          <a:solidFill>
            <a:srgbClr val="EDE8F8"/>
          </a:solidFill>
          <a:ln w="1863725">
            <a:solidFill>
              <a:srgbClr val="583F99">
                <a:alpha val="588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583F99"/>
              </a:solidFill>
              <a:effectLst/>
              <a:uLnTx/>
              <a:uFillTx/>
              <a:latin typeface="Work Sans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70E9E4-EE86-4609-AEEA-A73A5FE7CA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921" y="385795"/>
            <a:ext cx="1366272" cy="15875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343308-F7D6-8245-B839-010678F1B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186" y="33652"/>
            <a:ext cx="6482277" cy="5605936"/>
          </a:xfrm>
        </p:spPr>
        <p:txBody>
          <a:bodyPr>
            <a:normAutofit/>
          </a:bodyPr>
          <a:lstStyle/>
          <a:p>
            <a:br>
              <a:rPr lang="en-US">
                <a:solidFill>
                  <a:schemeClr val="tx1"/>
                </a:solidFill>
              </a:rPr>
            </a:br>
            <a:br>
              <a:rPr lang="en-US">
                <a:solidFill>
                  <a:schemeClr val="tx1"/>
                </a:solidFill>
              </a:rPr>
            </a:b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D32F4E-C689-4DBC-A1D6-D98409DAF178}"/>
              </a:ext>
            </a:extLst>
          </p:cNvPr>
          <p:cNvSpPr/>
          <p:nvPr/>
        </p:nvSpPr>
        <p:spPr>
          <a:xfrm>
            <a:off x="1338842" y="2002303"/>
            <a:ext cx="29480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583F99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Feedback</a:t>
            </a:r>
            <a:endParaRPr kumimoji="0" lang="en-AU" sz="3600" b="0" i="0" u="none" strike="noStrike" kern="1200" cap="none" spc="0" normalizeH="0" baseline="0" noProof="0">
              <a:ln>
                <a:noFill/>
              </a:ln>
              <a:solidFill>
                <a:srgbClr val="583F9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553DFC-E15E-48CF-B60D-0A7F2586852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93492" y="5933665"/>
            <a:ext cx="1909570" cy="474284"/>
          </a:xfrm>
          <a:prstGeom prst="rect">
            <a:avLst/>
          </a:prstGeom>
        </p:spPr>
      </p:pic>
      <p:sp>
        <p:nvSpPr>
          <p:cNvPr id="10" name="Feedback placeholder"/>
          <p:cNvSpPr/>
          <p:nvPr/>
        </p:nvSpPr>
        <p:spPr>
          <a:xfrm>
            <a:off x="5074920" y="2606040"/>
            <a:ext cx="6400800" cy="1371600"/>
          </a:xfrm>
          <a:prstGeom prst="roundRect">
            <a:avLst>
              <a:gd name="adj" fmla="val 20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2600" b="1">
                <a:solidFill>
                  <a:srgbClr val="584099"/>
                </a:solidFill>
                <a:latin typeface="Arial"/>
              </a:rPr>
              <a:t>Feedback link and QR code: TBA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727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50"/>
          <a:stretch/>
        </p:blipFill>
        <p:spPr>
          <a:xfrm flipH="1">
            <a:off x="0" y="-30480"/>
            <a:ext cx="12192000" cy="688848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55CFCEF-E826-4CDD-85E1-C244F749F74C}"/>
              </a:ext>
            </a:extLst>
          </p:cNvPr>
          <p:cNvSpPr txBox="1">
            <a:spLocks/>
          </p:cNvSpPr>
          <p:nvPr/>
        </p:nvSpPr>
        <p:spPr>
          <a:xfrm>
            <a:off x="877824" y="640080"/>
            <a:ext cx="4754880" cy="146304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>
              <a:defRPr sz="4400" b="1">
                <a:solidFill>
                  <a:srgbClr val="BBD64A"/>
                </a:solidFill>
                <a:latin typeface="Arial Black" panose="020B0A04020102020204" pitchFamily="34" charset="0"/>
              </a:defRPr>
            </a:lvl1pPr>
          </a:lstStyle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4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Good luck on your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28600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0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Stay curious.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AU" sz="20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Keep your young person at the centre.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3291840"/>
            <a:ext cx="438912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AU" sz="18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Take one small next step, include the people who know your young person well and see what happens. Small changes can be adjusted as you go.</a:t>
            </a:r>
          </a:p>
        </p:txBody>
      </p:sp>
    </p:spTree>
    <p:extLst>
      <p:ext uri="{BB962C8B-B14F-4D97-AF65-F5344CB8AC3E}">
        <p14:creationId xmlns:p14="http://schemas.microsoft.com/office/powerpoint/2010/main" val="18337820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5DF672D9920B44888613C845FEE28C" ma:contentTypeVersion="13" ma:contentTypeDescription="Create a new document." ma:contentTypeScope="" ma:versionID="f74e0793e4bbea6511fcde495954d792">
  <xsd:schema xmlns:xsd="http://www.w3.org/2001/XMLSchema" xmlns:xs="http://www.w3.org/2001/XMLSchema" xmlns:p="http://schemas.microsoft.com/office/2006/metadata/properties" xmlns:ns2="f0bb3e21-4545-485a-b693-7e527aa5b0a1" xmlns:ns3="27f1137f-2ca6-4fef-8072-b9e4ddf9f88d" targetNamespace="http://schemas.microsoft.com/office/2006/metadata/properties" ma:root="true" ma:fieldsID="83fb0c578da1c893ab66577103c670f4" ns2:_="" ns3:_="">
    <xsd:import namespace="f0bb3e21-4545-485a-b693-7e527aa5b0a1"/>
    <xsd:import namespace="27f1137f-2ca6-4fef-8072-b9e4ddf9f8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bb3e21-4545-485a-b693-7e527aa5b0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0234d0ea-ced3-483a-ade0-71e1f4ad42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f1137f-2ca6-4fef-8072-b9e4ddf9f88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25baa329-1694-49a7-99b3-a1d2375b9e3c}" ma:internalName="TaxCatchAll" ma:showField="CatchAllData" ma:web="27f1137f-2ca6-4fef-8072-b9e4ddf9f8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0bb3e21-4545-485a-b693-7e527aa5b0a1">
      <Terms xmlns="http://schemas.microsoft.com/office/infopath/2007/PartnerControls"/>
    </lcf76f155ced4ddcb4097134ff3c332f>
    <TaxCatchAll xmlns="27f1137f-2ca6-4fef-8072-b9e4ddf9f88d" xsi:nil="true"/>
  </documentManagement>
</p:properties>
</file>

<file path=customXml/itemProps1.xml><?xml version="1.0" encoding="utf-8"?>
<ds:datastoreItem xmlns:ds="http://schemas.openxmlformats.org/officeDocument/2006/customXml" ds:itemID="{959C572B-12B9-405D-919C-282FBDEA53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bb3e21-4545-485a-b693-7e527aa5b0a1"/>
    <ds:schemaRef ds:uri="27f1137f-2ca6-4fef-8072-b9e4ddf9f8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5665E-583E-409D-BD0B-29BD6D9F22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F42DEE-BB42-49AB-911B-9E6CEDB35B14}">
  <ds:schemaRefs>
    <ds:schemaRef ds:uri="http://schemas.microsoft.com/office/2006/metadata/properties"/>
    <ds:schemaRef ds:uri="http://schemas.microsoft.com/office/infopath/2007/PartnerControls"/>
    <ds:schemaRef ds:uri="f0bb3e21-4545-485a-b693-7e527aa5b0a1"/>
    <ds:schemaRef ds:uri="27f1137f-2ca6-4fef-8072-b9e4ddf9f88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2427</Words>
  <Application>Microsoft Macintosh PowerPoint</Application>
  <PresentationFormat>Widescreen</PresentationFormat>
  <Paragraphs>261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Arial Black</vt:lpstr>
      <vt:lpstr>Calibri</vt:lpstr>
      <vt:lpstr>Work Sans</vt:lpstr>
      <vt:lpstr>Office Theme</vt:lpstr>
      <vt:lpstr>PowerPoint Presentation</vt:lpstr>
      <vt:lpstr>PowerPoint Presentation</vt:lpstr>
      <vt:lpstr>PowerPoint Presentation</vt:lpstr>
      <vt:lpstr>Start · Continue · Reconsider</vt:lpstr>
      <vt:lpstr>PowerPoint Presentation</vt:lpstr>
      <vt:lpstr>PowerPoint Presentation</vt:lpstr>
      <vt:lpstr>Final reflection</vt:lpstr>
      <vt:lpstr>Connections that continue</vt:lpstr>
      <vt:lpstr>PowerPoint Presentation</vt:lpstr>
      <vt:lpstr>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Alison Macrae</dc:creator>
  <cp:lastModifiedBy>Craig Smith</cp:lastModifiedBy>
  <cp:revision>16</cp:revision>
  <dcterms:created xsi:type="dcterms:W3CDTF">2026-08-14T00:15:56Z</dcterms:created>
  <dcterms:modified xsi:type="dcterms:W3CDTF">2026-09-25T06:46:12Z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0x010100C75DF672D9920B44888613C845FEE28C</vt:lpwstr>
  </property>
  <property fmtid="{D5CDD505-2E9C-101B-9397-08002B2CF9AE}" pid="3" name="MediaServiceImageTags">
    <vt:lpwstr/>
  </property>
</Properties>
</file>